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a data-driven model that forecasts wave height up to three days ahead at buoy locations in the Bay of Bengal, built and tested so that no future information leaks into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spikes: each one is a named cyclone (Amphan, Yaas, Fani, Mocha). Between them the monsoon cycle dominates. The engineering need is a forecast at a fixed location, which is exactly what a data-driven model can give cheaply.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items are what I designed and built myself, beyond applying existing libraries.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ERA5: complete, homogeneous, and the CDS time-series service delivered ten years per site in minutes. Seasonal cycle: monsoon peak in July at the northern sites, relatively higher winter seas at BD11. Be upfront that the buoy data had not arrived, so ERA5 is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top to bottom. The guardrail at the bottom is the thread through all phases: it is what makes the test scores honest.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first question an examiner should ask: how do you know you did not leak the future? The answer is a rule, enforced in code and checked by tests.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to explain: the stress history (a 20 m/s wind that has blown for 24 hours makes bigger waves than one that started an hour ago) and the pressure tendency (the earliest local sign of a cyclone).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trees and the LSTM see exactly the same forecast origins, so every comparison later is like for like.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attention in one sentence: each horizon can look back at the part of the 72-hour history that matters most for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q95 is the 95th percentile of training Hs: 3.0 m at BD08, 3.1 m at BD10 and 2.6 m at BD11.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chart left to right: at 6 hours everyone is close to persistence because the sea state barely changes; by 72 hours the learned models are clearly ahead.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colours throughout the talk: blue LightGBM, orange CatBoost, green LSTM with the peak loss, yellow LSTM with MSE, pink ARIMA.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Positive skill means better than persistence. Skill near zero at 6 hours is expected; it is the long horizons where a forecaster earns its keep.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 chosen automatically as the most variable 30 days of the test period at BD08.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days before the peak the cyclone is far from the buoy and leaves almost no trace in the local wind, pressure and wave history. This is the clearest argument for adding forecast forcing.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result for safety applications. The overall RMSE gets a little worse because the loss tolerates over-prediction near the threshold.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CatBoost gain importance averaged over the three sites.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balanced: the comparison was done under a limited computing budget, which favours the cheaper trees.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buoy reader, QC and alignment are already built and tested, so swapping the target is a configuration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numbers, then the one-sentence take-away.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with the sources behind the data, the models and the verification methods.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logo card"/>
          <p:cNvSpPr/>
          <p:nvPr/>
        </p:nvSpPr>
        <p:spPr>
          <a:xfrm>
            <a:off x="384048" y="173736"/>
            <a:ext cx="837798" cy="88696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IIT Kharagpur logo" descr="iitkgp_logo.png"/>
          <p:cNvPicPr>
            <a:picLocks noChangeAspect="1"/>
          </p:cNvPicPr>
          <p:nvPr/>
        </p:nvPicPr>
        <p:blipFill>
          <a:blip r:embed="rId2"/>
          <a:stretch>
            <a:fillRect/>
          </a:stretch>
        </p:blipFill>
        <p:spPr>
          <a:xfrm>
            <a:off x="457200" y="228600"/>
            <a:ext cx="691494" cy="777240"/>
          </a:xfrm>
          <a:prstGeom prst="rect">
            <a:avLst/>
          </a:prstGeom>
        </p:spPr>
      </p:pic>
      <p:sp>
        <p:nvSpPr>
          <p:cNvPr id="4" name="kicker"/>
          <p:cNvSpPr txBox="1"/>
          <p:nvPr/>
        </p:nvSpPr>
        <p:spPr>
          <a:xfrm>
            <a:off x="731520" y="1097280"/>
            <a:ext cx="10698480" cy="411480"/>
          </a:xfrm>
          <a:prstGeom prst="rect">
            <a:avLst/>
          </a:prstGeom>
          <a:noFill/>
        </p:spPr>
        <p:txBody>
          <a:bodyPr wrap="square" lIns="73152" rIns="73152" tIns="73152" bIns="73152" anchor="t">
            <a:spAutoFit/>
          </a:bodyPr>
          <a:lstStyle/>
          <a:p>
            <a:pPr algn="l"/>
            <a:r>
              <a:rPr sz="1300" b="1" i="0">
                <a:solidFill>
                  <a:srgbClr val="9FC9CE"/>
                </a:solidFill>
                <a:latin typeface="Arial"/>
              </a:rPr>
              <a:t>B.TECH–M.TECH DUAL DEGREE PROJECT · OCEAN ENGINEERING AND NAVAL ARCHITECTURE</a:t>
            </a:r>
          </a:p>
        </p:txBody>
      </p:sp>
      <p:sp>
        <p:nvSpPr>
          <p:cNvPr id="5" name="title"/>
          <p:cNvSpPr txBox="1"/>
          <p:nvPr/>
        </p:nvSpPr>
        <p:spPr>
          <a:xfrm>
            <a:off x="731520" y="1554480"/>
            <a:ext cx="10698480" cy="2057400"/>
          </a:xfrm>
          <a:prstGeom prst="rect">
            <a:avLst/>
          </a:prstGeom>
          <a:noFill/>
        </p:spPr>
        <p:txBody>
          <a:bodyPr wrap="square" lIns="73152" rIns="73152" tIns="73152" bIns="73152" anchor="t">
            <a:spAutoFit/>
          </a:bodyPr>
          <a:lstStyle/>
          <a:p>
            <a:pPr algn="l"/>
            <a:r>
              <a:rPr sz="4000" b="1" i="0">
                <a:solidFill>
                  <a:srgbClr val="FFFFFF"/>
                </a:solidFill>
                <a:latin typeface="Georgia"/>
              </a:rPr>
              <a:t>Multi-Step Significant Wave Height Forecasting in the Bay of Bengal</a:t>
            </a:r>
          </a:p>
        </p:txBody>
      </p:sp>
      <p:sp>
        <p:nvSpPr>
          <p:cNvPr id="6" name="subtitle"/>
          <p:cNvSpPr txBox="1"/>
          <p:nvPr/>
        </p:nvSpPr>
        <p:spPr>
          <a:xfrm>
            <a:off x="731520" y="3611880"/>
            <a:ext cx="10698480" cy="548640"/>
          </a:xfrm>
          <a:prstGeom prst="rect">
            <a:avLst/>
          </a:prstGeom>
          <a:noFill/>
        </p:spPr>
        <p:txBody>
          <a:bodyPr wrap="square" lIns="73152" rIns="73152" tIns="73152" bIns="73152" anchor="t">
            <a:spAutoFit/>
          </a:bodyPr>
          <a:lstStyle/>
          <a:p>
            <a:pPr algn="l"/>
            <a:r>
              <a:rPr sz="2000" b="0" i="1">
                <a:solidFill>
                  <a:srgbClr val="CFE6E8"/>
                </a:solidFill>
                <a:latin typeface="Arial"/>
              </a:rPr>
              <a:t>Hybrid machine-learning and deep-learning frameworks, 6 to 72 hours ahead</a:t>
            </a:r>
          </a:p>
        </p:txBody>
      </p:sp>
      <p:sp>
        <p:nvSpPr>
          <p:cNvPr id="7" name="presenter card"/>
          <p:cNvSpPr/>
          <p:nvPr/>
        </p:nvSpPr>
        <p:spPr>
          <a:xfrm>
            <a:off x="731520" y="4526280"/>
            <a:ext cx="5120640" cy="1463040"/>
          </a:xfrm>
          <a:prstGeom prst="roundRect">
            <a:avLst>
              <a:gd name="adj" fmla="val 11249"/>
            </a:avLst>
          </a:prstGeom>
          <a:solidFill>
            <a:srgbClr val="13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esenter"/>
          <p:cNvSpPr txBox="1"/>
          <p:nvPr/>
        </p:nvSpPr>
        <p:spPr>
          <a:xfrm>
            <a:off x="914400" y="4645152"/>
            <a:ext cx="4846320" cy="1280160"/>
          </a:xfrm>
          <a:prstGeom prst="rect">
            <a:avLst/>
          </a:prstGeom>
          <a:noFill/>
        </p:spPr>
        <p:txBody>
          <a:bodyPr wrap="square" lIns="73152" rIns="73152" tIns="73152" bIns="73152" anchor="t">
            <a:spAutoFit/>
          </a:bodyPr>
          <a:lstStyle/>
          <a:p>
            <a:pPr algn="l"/>
            <a:r>
              <a:rPr sz="1800" b="1" i="0">
                <a:solidFill>
                  <a:srgbClr val="FFFFFF"/>
                </a:solidFill>
                <a:latin typeface="Arial"/>
              </a:rPr>
              <a:t>Vishesh Bhagwandas Agarwal</a:t>
            </a:r>
          </a:p>
          <a:p>
            <a:pPr algn="l">
              <a:spcBef>
                <a:spcPts val="400"/>
              </a:spcBef>
            </a:pPr>
            <a:r>
              <a:rPr sz="1500" b="0" i="0">
                <a:solidFill>
                  <a:srgbClr val="FFFFFF"/>
                </a:solidFill>
                <a:latin typeface="Arial"/>
              </a:rPr>
              <a:t>Roll No. 22NA30045</a:t>
            </a:r>
          </a:p>
          <a:p>
            <a:pPr algn="l">
              <a:spcBef>
                <a:spcPts val="400"/>
              </a:spcBef>
            </a:pPr>
            <a:r>
              <a:rPr sz="1500" b="0" i="0">
                <a:solidFill>
                  <a:srgbClr val="FFFFFF"/>
                </a:solidFill>
                <a:latin typeface="Arial"/>
              </a:rPr>
              <a:t>Supervisor: Professor Swapnadip De Chowdhury</a:t>
            </a:r>
          </a:p>
        </p:txBody>
      </p:sp>
      <p:sp>
        <p:nvSpPr>
          <p:cNvPr id="9" name="institute"/>
          <p:cNvSpPr txBox="1"/>
          <p:nvPr/>
        </p:nvSpPr>
        <p:spPr>
          <a:xfrm>
            <a:off x="6400800" y="4645152"/>
            <a:ext cx="5120640" cy="1280160"/>
          </a:xfrm>
          <a:prstGeom prst="rect">
            <a:avLst/>
          </a:prstGeom>
          <a:noFill/>
        </p:spPr>
        <p:txBody>
          <a:bodyPr wrap="square" lIns="73152" rIns="73152" tIns="73152" bIns="73152" anchor="t">
            <a:spAutoFit/>
          </a:bodyPr>
          <a:lstStyle/>
          <a:p>
            <a:pPr algn="l"/>
            <a:r>
              <a:rPr sz="1500" b="0" i="0">
                <a:solidFill>
                  <a:srgbClr val="CFE6E8"/>
                </a:solidFill>
                <a:latin typeface="Arial"/>
              </a:rPr>
              <a:t>Department of Ocean Engineering and Naval Architecture</a:t>
            </a:r>
          </a:p>
          <a:p>
            <a:pPr algn="l">
              <a:spcBef>
                <a:spcPts val="400"/>
              </a:spcBef>
            </a:pPr>
            <a:r>
              <a:rPr sz="1500" b="0" i="0">
                <a:solidFill>
                  <a:srgbClr val="CFE6E8"/>
                </a:solidFill>
                <a:latin typeface="Arial"/>
              </a:rPr>
              <a:t>Indian Institute of Technology Kharagpur</a:t>
            </a:r>
          </a:p>
          <a:p>
            <a:pPr algn="l">
              <a:spcBef>
                <a:spcPts val="400"/>
              </a:spcBef>
            </a:pPr>
            <a:r>
              <a:rPr sz="1500" b="0" i="0">
                <a:solidFill>
                  <a:srgbClr val="CFE6E8"/>
                </a:solidFill>
                <a:latin typeface="Arial"/>
              </a:rPr>
              <a:t>10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Cyclones lift a 1.5 m sea to 10 m within a day</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The Bay of Bengal needs fast, reliable wave forecasts at fixed points: ports, platforms, moorings</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2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ERA5 Hs at the three OMNI buoy positions, 2015–2024 (Hersbach et al. 2020); cyclone identification from IMD reports</a:t>
            </a:r>
          </a:p>
        </p:txBody>
      </p:sp>
      <p:pic>
        <p:nvPicPr>
          <p:cNvPr id="7" name="figure" descr="fig_record.png"/>
          <p:cNvPicPr>
            <a:picLocks noChangeAspect="1"/>
          </p:cNvPicPr>
          <p:nvPr/>
        </p:nvPicPr>
        <p:blipFill>
          <a:blip r:embed="rId3"/>
          <a:stretch>
            <a:fillRect/>
          </a:stretch>
        </p:blipFill>
        <p:spPr>
          <a:xfrm>
            <a:off x="1024598" y="1508760"/>
            <a:ext cx="5997522" cy="4754880"/>
          </a:xfrm>
          <a:prstGeom prst="rect">
            <a:avLst/>
          </a:prstGeom>
        </p:spPr>
      </p:pic>
      <p:sp>
        <p:nvSpPr>
          <p:cNvPr id="8" name="stat card"/>
          <p:cNvSpPr/>
          <p:nvPr/>
        </p:nvSpPr>
        <p:spPr>
          <a:xfrm>
            <a:off x="7863840" y="1600200"/>
            <a:ext cx="3749039"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value"/>
          <p:cNvSpPr txBox="1"/>
          <p:nvPr/>
        </p:nvSpPr>
        <p:spPr>
          <a:xfrm>
            <a:off x="8001000" y="1673352"/>
            <a:ext cx="3474720" cy="841248"/>
          </a:xfrm>
          <a:prstGeom prst="rect">
            <a:avLst/>
          </a:prstGeom>
          <a:noFill/>
        </p:spPr>
        <p:txBody>
          <a:bodyPr wrap="square" lIns="73152" rIns="73152" tIns="73152" bIns="73152" anchor="t">
            <a:spAutoFit/>
          </a:bodyPr>
          <a:lstStyle/>
          <a:p>
            <a:pPr algn="l"/>
            <a:r>
              <a:rPr sz="4000" b="1" i="0">
                <a:solidFill>
                  <a:srgbClr val="E8A33D"/>
                </a:solidFill>
                <a:latin typeface="Arial"/>
              </a:rPr>
              <a:t>10.7 m</a:t>
            </a:r>
          </a:p>
        </p:txBody>
      </p:sp>
      <p:sp>
        <p:nvSpPr>
          <p:cNvPr id="10" name="stat label"/>
          <p:cNvSpPr txBox="1"/>
          <p:nvPr/>
        </p:nvSpPr>
        <p:spPr>
          <a:xfrm>
            <a:off x="8001000" y="2441448"/>
            <a:ext cx="3474720" cy="530352"/>
          </a:xfrm>
          <a:prstGeom prst="rect">
            <a:avLst/>
          </a:prstGeom>
          <a:noFill/>
        </p:spPr>
        <p:txBody>
          <a:bodyPr wrap="square" lIns="73152" rIns="73152" tIns="73152" bIns="73152" anchor="t">
            <a:spAutoFit/>
          </a:bodyPr>
          <a:lstStyle/>
          <a:p>
            <a:pPr algn="l"/>
            <a:r>
              <a:rPr sz="1300" b="0" i="0">
                <a:solidFill>
                  <a:srgbClr val="1D2A33"/>
                </a:solidFill>
                <a:latin typeface="Arial"/>
              </a:rPr>
              <a:t>Peak Hs at BD10 in cyclone Amphan, May 2020</a:t>
            </a:r>
          </a:p>
        </p:txBody>
      </p:sp>
      <p:sp>
        <p:nvSpPr>
          <p:cNvPr id="11" name="stat card"/>
          <p:cNvSpPr/>
          <p:nvPr/>
        </p:nvSpPr>
        <p:spPr>
          <a:xfrm>
            <a:off x="7863840" y="3154680"/>
            <a:ext cx="3749039"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value"/>
          <p:cNvSpPr txBox="1"/>
          <p:nvPr/>
        </p:nvSpPr>
        <p:spPr>
          <a:xfrm>
            <a:off x="8001000" y="3227832"/>
            <a:ext cx="3474720" cy="841248"/>
          </a:xfrm>
          <a:prstGeom prst="rect">
            <a:avLst/>
          </a:prstGeom>
          <a:noFill/>
        </p:spPr>
        <p:txBody>
          <a:bodyPr wrap="square" lIns="73152" rIns="73152" tIns="73152" bIns="73152" anchor="t">
            <a:spAutoFit/>
          </a:bodyPr>
          <a:lstStyle/>
          <a:p>
            <a:pPr algn="l"/>
            <a:r>
              <a:rPr sz="4000" b="1" i="0">
                <a:solidFill>
                  <a:srgbClr val="1B7F8C"/>
                </a:solidFill>
                <a:latin typeface="Arial"/>
              </a:rPr>
              <a:t>≈ 1.5 m</a:t>
            </a:r>
          </a:p>
        </p:txBody>
      </p:sp>
      <p:sp>
        <p:nvSpPr>
          <p:cNvPr id="13" name="stat label"/>
          <p:cNvSpPr txBox="1"/>
          <p:nvPr/>
        </p:nvSpPr>
        <p:spPr>
          <a:xfrm>
            <a:off x="8001000" y="3995928"/>
            <a:ext cx="3474720" cy="530352"/>
          </a:xfrm>
          <a:prstGeom prst="rect">
            <a:avLst/>
          </a:prstGeom>
          <a:noFill/>
        </p:spPr>
        <p:txBody>
          <a:bodyPr wrap="square" lIns="73152" rIns="73152" tIns="73152" bIns="73152" anchor="t">
            <a:spAutoFit/>
          </a:bodyPr>
          <a:lstStyle/>
          <a:p>
            <a:pPr algn="l"/>
            <a:r>
              <a:rPr sz="1300" b="0" i="0">
                <a:solidFill>
                  <a:srgbClr val="1D2A33"/>
                </a:solidFill>
                <a:latin typeface="Arial"/>
              </a:rPr>
              <a:t>Mean Hs at all three sites</a:t>
            </a:r>
          </a:p>
        </p:txBody>
      </p:sp>
      <p:sp>
        <p:nvSpPr>
          <p:cNvPr id="14" name="takeaways"/>
          <p:cNvSpPr txBox="1"/>
          <p:nvPr/>
        </p:nvSpPr>
        <p:spPr>
          <a:xfrm>
            <a:off x="7863840" y="4709160"/>
            <a:ext cx="3749039" cy="1554480"/>
          </a:xfrm>
          <a:prstGeom prst="rect">
            <a:avLst/>
          </a:prstGeom>
          <a:noFill/>
        </p:spPr>
        <p:txBody>
          <a:bodyPr wrap="square" lIns="73152" rIns="73152" tIns="73152" bIns="73152" anchor="t">
            <a:spAutoFit/>
          </a:bodyPr>
          <a:lstStyle/>
          <a:p>
            <a:pPr algn="l" marL="274320" indent="-228600">
              <a:buFont typeface="Arial"/>
              <a:buChar char="•"/>
            </a:pPr>
            <a:r>
              <a:rPr sz="1400" b="0" i="0">
                <a:solidFill>
                  <a:srgbClr val="1D2A33"/>
                </a:solidFill>
                <a:latin typeface="Arial"/>
              </a:rPr>
              <a:t>Numerical models (WAM, WAVEWATCH III) need supercomputers and NWP forcing</a:t>
            </a:r>
          </a:p>
          <a:p>
            <a:pPr algn="l" marL="274320" indent="-228600">
              <a:spcBef>
                <a:spcPts val="600"/>
              </a:spcBef>
              <a:buFont typeface="Arial"/>
              <a:buChar char="•"/>
            </a:pPr>
            <a:r>
              <a:rPr sz="1400" b="0" i="0">
                <a:solidFill>
                  <a:srgbClr val="1D2A33"/>
                </a:solidFill>
                <a:latin typeface="Arial"/>
              </a:rPr>
              <a:t>A point forecaster can be cheap, fast and retrained as data arrive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Objectives and contributions</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Forecast Hs at 6, 12, 24, 48 and 72 h, without leakage, and without feeding forecasts back</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3 / 21</a:t>
            </a:r>
          </a:p>
        </p:txBody>
      </p:sp>
      <p:sp>
        <p:nvSpPr>
          <p:cNvPr id="6" name="objectives card"/>
          <p:cNvSpPr/>
          <p:nvPr/>
        </p:nvSpPr>
        <p:spPr>
          <a:xfrm>
            <a:off x="548640" y="1600200"/>
            <a:ext cx="4754880" cy="4617720"/>
          </a:xfrm>
          <a:prstGeom prst="roundRect">
            <a:avLst>
              <a:gd name="adj" fmla="val 3564"/>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bjectives heading"/>
          <p:cNvSpPr txBox="1"/>
          <p:nvPr/>
        </p:nvSpPr>
        <p:spPr>
          <a:xfrm>
            <a:off x="777240" y="1737360"/>
            <a:ext cx="4389120" cy="457200"/>
          </a:xfrm>
          <a:prstGeom prst="rect">
            <a:avLst/>
          </a:prstGeom>
          <a:noFill/>
        </p:spPr>
        <p:txBody>
          <a:bodyPr wrap="square" lIns="73152" rIns="73152" tIns="73152" bIns="73152" anchor="t">
            <a:spAutoFit/>
          </a:bodyPr>
          <a:lstStyle/>
          <a:p>
            <a:pPr algn="l"/>
            <a:r>
              <a:rPr sz="1900" b="1" i="0">
                <a:solidFill>
                  <a:srgbClr val="0B2545"/>
                </a:solidFill>
                <a:latin typeface="Georgia"/>
              </a:rPr>
              <a:t>Objectives</a:t>
            </a:r>
          </a:p>
        </p:txBody>
      </p:sp>
      <p:sp>
        <p:nvSpPr>
          <p:cNvPr id="8" name="objectives"/>
          <p:cNvSpPr txBox="1"/>
          <p:nvPr/>
        </p:nvSpPr>
        <p:spPr>
          <a:xfrm>
            <a:off x="777240" y="2240280"/>
            <a:ext cx="4389120" cy="3886200"/>
          </a:xfrm>
          <a:prstGeom prst="rect">
            <a:avLst/>
          </a:prstGeom>
          <a:noFill/>
        </p:spPr>
        <p:txBody>
          <a:bodyPr wrap="square" lIns="73152" rIns="73152" tIns="73152" bIns="73152" anchor="t">
            <a:spAutoFit/>
          </a:bodyPr>
          <a:lstStyle/>
          <a:p>
            <a:pPr algn="l" marL="274320" indent="-228600">
              <a:buFont typeface="Arial"/>
              <a:buChar char="•"/>
            </a:pPr>
            <a:r>
              <a:rPr sz="1500" b="0" i="0">
                <a:solidFill>
                  <a:srgbClr val="1D2A33"/>
                </a:solidFill>
                <a:latin typeface="Arial"/>
              </a:rPr>
              <a:t>Leakage-free pipeline: ERA5 + INCOIS buoys, aligned and physically featured</a:t>
            </a:r>
          </a:p>
          <a:p>
            <a:pPr algn="l" marL="274320" indent="-228600">
              <a:spcBef>
                <a:spcPts val="900"/>
              </a:spcBef>
              <a:buFont typeface="Arial"/>
              <a:buChar char="•"/>
            </a:pPr>
            <a:r>
              <a:rPr sz="1500" b="0" i="0">
                <a:solidFill>
                  <a:srgbClr val="1D2A33"/>
                </a:solidFill>
                <a:latin typeface="Arial"/>
              </a:rPr>
              <a:t>Direct multi-step LightGBM and CatBoost, Bayesian-tuned</a:t>
            </a:r>
          </a:p>
          <a:p>
            <a:pPr algn="l" marL="274320" indent="-228600">
              <a:spcBef>
                <a:spcPts val="900"/>
              </a:spcBef>
              <a:buFont typeface="Arial"/>
              <a:buChar char="•"/>
            </a:pPr>
            <a:r>
              <a:rPr sz="1500" b="0" i="0">
                <a:solidFill>
                  <a:srgbClr val="1D2A33"/>
                </a:solidFill>
                <a:latin typeface="Arial"/>
              </a:rPr>
              <a:t>Seq2Seq Bi-LSTM with attention and a peak-weighted loss</a:t>
            </a:r>
          </a:p>
          <a:p>
            <a:pPr algn="l" marL="274320" indent="-228600">
              <a:spcBef>
                <a:spcPts val="900"/>
              </a:spcBef>
              <a:buFont typeface="Arial"/>
              <a:buChar char="•"/>
            </a:pPr>
            <a:r>
              <a:rPr sz="1500" b="0" i="0">
                <a:solidFill>
                  <a:srgbClr val="1D2A33"/>
                </a:solidFill>
                <a:latin typeface="Arial"/>
              </a:rPr>
              <a:t>Fair comparison with persistence, climatology and ARIMA, including cyclones</a:t>
            </a:r>
          </a:p>
        </p:txBody>
      </p:sp>
      <p:sp>
        <p:nvSpPr>
          <p:cNvPr id="9" name="contrib heading"/>
          <p:cNvSpPr txBox="1"/>
          <p:nvPr/>
        </p:nvSpPr>
        <p:spPr>
          <a:xfrm>
            <a:off x="5669280" y="1645920"/>
            <a:ext cx="5943600" cy="457200"/>
          </a:xfrm>
          <a:prstGeom prst="rect">
            <a:avLst/>
          </a:prstGeom>
          <a:noFill/>
        </p:spPr>
        <p:txBody>
          <a:bodyPr wrap="square" lIns="73152" rIns="73152" tIns="73152" bIns="73152" anchor="t">
            <a:spAutoFit/>
          </a:bodyPr>
          <a:lstStyle/>
          <a:p>
            <a:pPr algn="l"/>
            <a:r>
              <a:rPr sz="1900" b="1" i="0">
                <a:solidFill>
                  <a:srgbClr val="0B2545"/>
                </a:solidFill>
                <a:latin typeface="Georgia"/>
              </a:rPr>
              <a:t>My contributions</a:t>
            </a:r>
          </a:p>
        </p:txBody>
      </p:sp>
      <p:sp>
        <p:nvSpPr>
          <p:cNvPr id="10" name="badge"/>
          <p:cNvSpPr/>
          <p:nvPr/>
        </p:nvSpPr>
        <p:spPr>
          <a:xfrm>
            <a:off x="5669280" y="2194560"/>
            <a:ext cx="438912" cy="438912"/>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11" name="contribution"/>
          <p:cNvSpPr txBox="1"/>
          <p:nvPr/>
        </p:nvSpPr>
        <p:spPr>
          <a:xfrm>
            <a:off x="6263640" y="2112264"/>
            <a:ext cx="5394960" cy="393192"/>
          </a:xfrm>
          <a:prstGeom prst="rect">
            <a:avLst/>
          </a:prstGeom>
          <a:noFill/>
        </p:spPr>
        <p:txBody>
          <a:bodyPr wrap="square" lIns="73152" rIns="73152" tIns="73152" bIns="73152" anchor="t">
            <a:spAutoFit/>
          </a:bodyPr>
          <a:lstStyle/>
          <a:p>
            <a:pPr algn="l"/>
            <a:r>
              <a:rPr sz="1500" b="1" i="0">
                <a:solidFill>
                  <a:srgbClr val="1D2A33"/>
                </a:solidFill>
                <a:latin typeface="Arial"/>
              </a:rPr>
              <a:t>Containment rule for splits</a:t>
            </a:r>
          </a:p>
        </p:txBody>
      </p:sp>
      <p:sp>
        <p:nvSpPr>
          <p:cNvPr id="12" name="contribution detail"/>
          <p:cNvSpPr txBox="1"/>
          <p:nvPr/>
        </p:nvSpPr>
        <p:spPr>
          <a:xfrm>
            <a:off x="6263640" y="2450592"/>
            <a:ext cx="5394960" cy="329184"/>
          </a:xfrm>
          <a:prstGeom prst="rect">
            <a:avLst/>
          </a:prstGeom>
          <a:noFill/>
        </p:spPr>
        <p:txBody>
          <a:bodyPr wrap="square" lIns="73152" rIns="73152" tIns="73152" bIns="73152" anchor="t">
            <a:spAutoFit/>
          </a:bodyPr>
          <a:lstStyle/>
          <a:p>
            <a:pPr algn="l"/>
            <a:r>
              <a:rPr sz="1300" b="0" i="0">
                <a:solidFill>
                  <a:srgbClr val="5B6770"/>
                </a:solidFill>
                <a:latin typeface="Arial"/>
              </a:rPr>
              <a:t>Inputs and all targets of a sample inside one block</a:t>
            </a:r>
          </a:p>
        </p:txBody>
      </p:sp>
      <p:sp>
        <p:nvSpPr>
          <p:cNvPr id="13" name="badge"/>
          <p:cNvSpPr/>
          <p:nvPr/>
        </p:nvSpPr>
        <p:spPr>
          <a:xfrm>
            <a:off x="5669280" y="2999232"/>
            <a:ext cx="438912" cy="438912"/>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2</a:t>
            </a:r>
          </a:p>
        </p:txBody>
      </p:sp>
      <p:sp>
        <p:nvSpPr>
          <p:cNvPr id="14" name="contribution"/>
          <p:cNvSpPr txBox="1"/>
          <p:nvPr/>
        </p:nvSpPr>
        <p:spPr>
          <a:xfrm>
            <a:off x="6263640" y="2916936"/>
            <a:ext cx="5394960" cy="393192"/>
          </a:xfrm>
          <a:prstGeom prst="rect">
            <a:avLst/>
          </a:prstGeom>
          <a:noFill/>
        </p:spPr>
        <p:txBody>
          <a:bodyPr wrap="square" lIns="73152" rIns="73152" tIns="73152" bIns="73152" anchor="t">
            <a:spAutoFit/>
          </a:bodyPr>
          <a:lstStyle/>
          <a:p>
            <a:pPr algn="l"/>
            <a:r>
              <a:rPr sz="1500" b="1" i="0">
                <a:solidFill>
                  <a:srgbClr val="1D2A33"/>
                </a:solidFill>
                <a:latin typeface="Arial"/>
              </a:rPr>
              <a:t>Physics features</a:t>
            </a:r>
          </a:p>
        </p:txBody>
      </p:sp>
      <p:sp>
        <p:nvSpPr>
          <p:cNvPr id="15" name="contribution detail"/>
          <p:cNvSpPr txBox="1"/>
          <p:nvPr/>
        </p:nvSpPr>
        <p:spPr>
          <a:xfrm>
            <a:off x="6263640" y="3255264"/>
            <a:ext cx="5394960" cy="329184"/>
          </a:xfrm>
          <a:prstGeom prst="rect">
            <a:avLst/>
          </a:prstGeom>
          <a:noFill/>
        </p:spPr>
        <p:txBody>
          <a:bodyPr wrap="square" lIns="73152" rIns="73152" tIns="73152" bIns="73152" anchor="t">
            <a:spAutoFit/>
          </a:bodyPr>
          <a:lstStyle/>
          <a:p>
            <a:pPr algn="l"/>
            <a:r>
              <a:rPr sz="1300" b="0" i="0">
                <a:solidFill>
                  <a:srgbClr val="5B6770"/>
                </a:solidFill>
                <a:latin typeface="Arial"/>
              </a:rPr>
              <a:t>Wind stress, pressure tendency, air–sea ΔT, sin/cos directions</a:t>
            </a:r>
          </a:p>
        </p:txBody>
      </p:sp>
      <p:sp>
        <p:nvSpPr>
          <p:cNvPr id="16" name="badge"/>
          <p:cNvSpPr/>
          <p:nvPr/>
        </p:nvSpPr>
        <p:spPr>
          <a:xfrm>
            <a:off x="5669280" y="3803904"/>
            <a:ext cx="438912" cy="438912"/>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3</a:t>
            </a:r>
          </a:p>
        </p:txBody>
      </p:sp>
      <p:sp>
        <p:nvSpPr>
          <p:cNvPr id="17" name="contribution"/>
          <p:cNvSpPr txBox="1"/>
          <p:nvPr/>
        </p:nvSpPr>
        <p:spPr>
          <a:xfrm>
            <a:off x="6263640" y="3721608"/>
            <a:ext cx="5394960" cy="393192"/>
          </a:xfrm>
          <a:prstGeom prst="rect">
            <a:avLst/>
          </a:prstGeom>
          <a:noFill/>
        </p:spPr>
        <p:txBody>
          <a:bodyPr wrap="square" lIns="73152" rIns="73152" tIns="73152" bIns="73152" anchor="t">
            <a:spAutoFit/>
          </a:bodyPr>
          <a:lstStyle/>
          <a:p>
            <a:pPr algn="l"/>
            <a:r>
              <a:rPr sz="1500" b="1" i="0">
                <a:solidFill>
                  <a:srgbClr val="1D2A33"/>
                </a:solidFill>
                <a:latin typeface="Arial"/>
              </a:rPr>
              <a:t>Fast all-origin ARIMA</a:t>
            </a:r>
          </a:p>
        </p:txBody>
      </p:sp>
      <p:sp>
        <p:nvSpPr>
          <p:cNvPr id="18" name="contribution detail"/>
          <p:cNvSpPr txBox="1"/>
          <p:nvPr/>
        </p:nvSpPr>
        <p:spPr>
          <a:xfrm>
            <a:off x="6263640" y="4059936"/>
            <a:ext cx="5394960" cy="329184"/>
          </a:xfrm>
          <a:prstGeom prst="rect">
            <a:avLst/>
          </a:prstGeom>
          <a:noFill/>
        </p:spPr>
        <p:txBody>
          <a:bodyPr wrap="square" lIns="73152" rIns="73152" tIns="73152" bIns="73152" anchor="t">
            <a:spAutoFit/>
          </a:bodyPr>
          <a:lstStyle/>
          <a:p>
            <a:pPr algn="l"/>
            <a:r>
              <a:rPr sz="1300" b="0" i="0">
                <a:solidFill>
                  <a:srgbClr val="5B6770"/>
                </a:solidFill>
                <a:latin typeface="Arial"/>
              </a:rPr>
              <a:t>One Kalman pass gives the statsmodels forecast at every origin</a:t>
            </a:r>
          </a:p>
        </p:txBody>
      </p:sp>
      <p:sp>
        <p:nvSpPr>
          <p:cNvPr id="19" name="badge"/>
          <p:cNvSpPr/>
          <p:nvPr/>
        </p:nvSpPr>
        <p:spPr>
          <a:xfrm>
            <a:off x="5669280" y="4608576"/>
            <a:ext cx="438912" cy="438912"/>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4</a:t>
            </a:r>
          </a:p>
        </p:txBody>
      </p:sp>
      <p:sp>
        <p:nvSpPr>
          <p:cNvPr id="20" name="contribution"/>
          <p:cNvSpPr txBox="1"/>
          <p:nvPr/>
        </p:nvSpPr>
        <p:spPr>
          <a:xfrm>
            <a:off x="6263640" y="4526280"/>
            <a:ext cx="5394960" cy="393192"/>
          </a:xfrm>
          <a:prstGeom prst="rect">
            <a:avLst/>
          </a:prstGeom>
          <a:noFill/>
        </p:spPr>
        <p:txBody>
          <a:bodyPr wrap="square" lIns="73152" rIns="73152" tIns="73152" bIns="73152" anchor="t">
            <a:spAutoFit/>
          </a:bodyPr>
          <a:lstStyle/>
          <a:p>
            <a:pPr algn="l"/>
            <a:r>
              <a:rPr sz="1500" b="1" i="0">
                <a:solidFill>
                  <a:srgbClr val="1D2A33"/>
                </a:solidFill>
                <a:latin typeface="Arial"/>
              </a:rPr>
              <a:t>Peak-weighted loss</a:t>
            </a:r>
          </a:p>
        </p:txBody>
      </p:sp>
      <p:sp>
        <p:nvSpPr>
          <p:cNvPr id="21" name="contribution detail"/>
          <p:cNvSpPr txBox="1"/>
          <p:nvPr/>
        </p:nvSpPr>
        <p:spPr>
          <a:xfrm>
            <a:off x="6263640" y="4864608"/>
            <a:ext cx="5394960" cy="329184"/>
          </a:xfrm>
          <a:prstGeom prst="rect">
            <a:avLst/>
          </a:prstGeom>
          <a:noFill/>
        </p:spPr>
        <p:txBody>
          <a:bodyPr wrap="square" lIns="73152" rIns="73152" tIns="73152" bIns="73152" anchor="t">
            <a:spAutoFit/>
          </a:bodyPr>
          <a:lstStyle/>
          <a:p>
            <a:pPr algn="l"/>
            <a:r>
              <a:rPr sz="1300" b="0" i="0">
                <a:solidFill>
                  <a:srgbClr val="5B6770"/>
                </a:solidFill>
                <a:latin typeface="Arial"/>
              </a:rPr>
              <a:t>Under-predicting a storm costs 6× an ordinary error</a:t>
            </a:r>
          </a:p>
        </p:txBody>
      </p:sp>
      <p:sp>
        <p:nvSpPr>
          <p:cNvPr id="22" name="badge"/>
          <p:cNvSpPr/>
          <p:nvPr/>
        </p:nvSpPr>
        <p:spPr>
          <a:xfrm>
            <a:off x="5669280" y="5413248"/>
            <a:ext cx="438912" cy="438912"/>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5</a:t>
            </a:r>
          </a:p>
        </p:txBody>
      </p:sp>
      <p:sp>
        <p:nvSpPr>
          <p:cNvPr id="23" name="contribution"/>
          <p:cNvSpPr txBox="1"/>
          <p:nvPr/>
        </p:nvSpPr>
        <p:spPr>
          <a:xfrm>
            <a:off x="6263640" y="5330952"/>
            <a:ext cx="5394960" cy="393192"/>
          </a:xfrm>
          <a:prstGeom prst="rect">
            <a:avLst/>
          </a:prstGeom>
          <a:noFill/>
        </p:spPr>
        <p:txBody>
          <a:bodyPr wrap="square" lIns="73152" rIns="73152" tIns="73152" bIns="73152" anchor="t">
            <a:spAutoFit/>
          </a:bodyPr>
          <a:lstStyle/>
          <a:p>
            <a:pPr algn="l"/>
            <a:r>
              <a:rPr sz="1500" b="1" i="0">
                <a:solidFill>
                  <a:srgbClr val="1D2A33"/>
                </a:solidFill>
                <a:latin typeface="Arial"/>
              </a:rPr>
              <a:t>Tested, reproducible code</a:t>
            </a:r>
          </a:p>
        </p:txBody>
      </p:sp>
      <p:sp>
        <p:nvSpPr>
          <p:cNvPr id="24" name="contribution detail"/>
          <p:cNvSpPr txBox="1"/>
          <p:nvPr/>
        </p:nvSpPr>
        <p:spPr>
          <a:xfrm>
            <a:off x="6263640" y="5669280"/>
            <a:ext cx="5394960" cy="329184"/>
          </a:xfrm>
          <a:prstGeom prst="rect">
            <a:avLst/>
          </a:prstGeom>
          <a:noFill/>
        </p:spPr>
        <p:txBody>
          <a:bodyPr wrap="square" lIns="73152" rIns="73152" tIns="73152" bIns="73152" anchor="t">
            <a:spAutoFit/>
          </a:bodyPr>
          <a:lstStyle/>
          <a:p>
            <a:pPr algn="l"/>
            <a:r>
              <a:rPr sz="1300" b="0" i="0">
                <a:solidFill>
                  <a:srgbClr val="5B6770"/>
                </a:solidFill>
                <a:latin typeface="Arial"/>
              </a:rPr>
              <a:t>Automated tests for every guardrail; all tables regenerate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Data: ten years of hourly ERA5 at three buoy sites</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87,672 hours per site, no gaps; one CDS time-series request per buoy instead of 60 gridded requests</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4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ERA5 (ECMWF / Copernicus C3S, CC-BY-4.0); OMNI buoys BD08, BD10, BD11 (INCOIS)</a:t>
            </a:r>
          </a:p>
        </p:txBody>
      </p:sp>
      <p:sp>
        <p:nvSpPr>
          <p:cNvPr id="7" name="stat card"/>
          <p:cNvSpPr/>
          <p:nvPr/>
        </p:nvSpPr>
        <p:spPr>
          <a:xfrm>
            <a:off x="548640" y="1645920"/>
            <a:ext cx="2606040"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at value"/>
          <p:cNvSpPr txBox="1"/>
          <p:nvPr/>
        </p:nvSpPr>
        <p:spPr>
          <a:xfrm>
            <a:off x="685800" y="1719072"/>
            <a:ext cx="2331720" cy="841248"/>
          </a:xfrm>
          <a:prstGeom prst="rect">
            <a:avLst/>
          </a:prstGeom>
          <a:noFill/>
        </p:spPr>
        <p:txBody>
          <a:bodyPr wrap="square" lIns="73152" rIns="73152" tIns="73152" bIns="73152" anchor="t">
            <a:spAutoFit/>
          </a:bodyPr>
          <a:lstStyle/>
          <a:p>
            <a:pPr algn="l"/>
            <a:r>
              <a:rPr sz="4000" b="1" i="0">
                <a:solidFill>
                  <a:srgbClr val="1B7F8C"/>
                </a:solidFill>
                <a:latin typeface="Arial"/>
              </a:rPr>
              <a:t>87,672</a:t>
            </a:r>
          </a:p>
        </p:txBody>
      </p:sp>
      <p:sp>
        <p:nvSpPr>
          <p:cNvPr id="9" name="stat label"/>
          <p:cNvSpPr txBox="1"/>
          <p:nvPr/>
        </p:nvSpPr>
        <p:spPr>
          <a:xfrm>
            <a:off x="685800" y="2487168"/>
            <a:ext cx="2331720" cy="530352"/>
          </a:xfrm>
          <a:prstGeom prst="rect">
            <a:avLst/>
          </a:prstGeom>
          <a:noFill/>
        </p:spPr>
        <p:txBody>
          <a:bodyPr wrap="square" lIns="73152" rIns="73152" tIns="73152" bIns="73152" anchor="t">
            <a:spAutoFit/>
          </a:bodyPr>
          <a:lstStyle/>
          <a:p>
            <a:pPr algn="l"/>
            <a:r>
              <a:rPr sz="1300" b="0" i="0">
                <a:solidFill>
                  <a:srgbClr val="1D2A33"/>
                </a:solidFill>
                <a:latin typeface="Arial"/>
              </a:rPr>
              <a:t>Hours per site, 2015–2024</a:t>
            </a:r>
          </a:p>
        </p:txBody>
      </p:sp>
      <p:sp>
        <p:nvSpPr>
          <p:cNvPr id="10" name="stat card"/>
          <p:cNvSpPr/>
          <p:nvPr/>
        </p:nvSpPr>
        <p:spPr>
          <a:xfrm>
            <a:off x="3291840" y="1645920"/>
            <a:ext cx="2606040"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 value"/>
          <p:cNvSpPr txBox="1"/>
          <p:nvPr/>
        </p:nvSpPr>
        <p:spPr>
          <a:xfrm>
            <a:off x="3429000" y="1719072"/>
            <a:ext cx="2331720" cy="841248"/>
          </a:xfrm>
          <a:prstGeom prst="rect">
            <a:avLst/>
          </a:prstGeom>
          <a:noFill/>
        </p:spPr>
        <p:txBody>
          <a:bodyPr wrap="square" lIns="73152" rIns="73152" tIns="73152" bIns="73152" anchor="t">
            <a:spAutoFit/>
          </a:bodyPr>
          <a:lstStyle/>
          <a:p>
            <a:pPr algn="l"/>
            <a:r>
              <a:rPr sz="4000" b="1" i="0">
                <a:solidFill>
                  <a:srgbClr val="1B7F8C"/>
                </a:solidFill>
                <a:latin typeface="Arial"/>
              </a:rPr>
              <a:t>8</a:t>
            </a:r>
          </a:p>
        </p:txBody>
      </p:sp>
      <p:sp>
        <p:nvSpPr>
          <p:cNvPr id="12" name="stat label"/>
          <p:cNvSpPr txBox="1"/>
          <p:nvPr/>
        </p:nvSpPr>
        <p:spPr>
          <a:xfrm>
            <a:off x="3429000" y="2487168"/>
            <a:ext cx="2331720" cy="530352"/>
          </a:xfrm>
          <a:prstGeom prst="rect">
            <a:avLst/>
          </a:prstGeom>
          <a:noFill/>
        </p:spPr>
        <p:txBody>
          <a:bodyPr wrap="square" lIns="73152" rIns="73152" tIns="73152" bIns="73152" anchor="t">
            <a:spAutoFit/>
          </a:bodyPr>
          <a:lstStyle/>
          <a:p>
            <a:pPr algn="l"/>
            <a:r>
              <a:rPr sz="1300" b="0" i="0">
                <a:solidFill>
                  <a:srgbClr val="1D2A33"/>
                </a:solidFill>
                <a:latin typeface="Arial"/>
              </a:rPr>
              <a:t>ERA5 variables per site</a:t>
            </a:r>
          </a:p>
        </p:txBody>
      </p:sp>
      <p:sp>
        <p:nvSpPr>
          <p:cNvPr id="13" name="stat card"/>
          <p:cNvSpPr/>
          <p:nvPr/>
        </p:nvSpPr>
        <p:spPr>
          <a:xfrm>
            <a:off x="548640" y="3246120"/>
            <a:ext cx="2606040"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 value"/>
          <p:cNvSpPr txBox="1"/>
          <p:nvPr/>
        </p:nvSpPr>
        <p:spPr>
          <a:xfrm>
            <a:off x="685800" y="3319272"/>
            <a:ext cx="2331720" cy="841248"/>
          </a:xfrm>
          <a:prstGeom prst="rect">
            <a:avLst/>
          </a:prstGeom>
          <a:noFill/>
        </p:spPr>
        <p:txBody>
          <a:bodyPr wrap="square" lIns="73152" rIns="73152" tIns="73152" bIns="73152" anchor="t">
            <a:spAutoFit/>
          </a:bodyPr>
          <a:lstStyle/>
          <a:p>
            <a:pPr algn="l"/>
            <a:r>
              <a:rPr sz="3200" b="1" i="0">
                <a:solidFill>
                  <a:srgbClr val="1B7F8C"/>
                </a:solidFill>
                <a:latin typeface="Arial"/>
              </a:rPr>
              <a:t>8–25 km</a:t>
            </a:r>
          </a:p>
        </p:txBody>
      </p:sp>
      <p:sp>
        <p:nvSpPr>
          <p:cNvPr id="15" name="stat label"/>
          <p:cNvSpPr txBox="1"/>
          <p:nvPr/>
        </p:nvSpPr>
        <p:spPr>
          <a:xfrm>
            <a:off x="685800" y="4087368"/>
            <a:ext cx="2331720" cy="530352"/>
          </a:xfrm>
          <a:prstGeom prst="rect">
            <a:avLst/>
          </a:prstGeom>
          <a:noFill/>
        </p:spPr>
        <p:txBody>
          <a:bodyPr wrap="square" lIns="73152" rIns="73152" tIns="73152" bIns="73152" anchor="t">
            <a:spAutoFit/>
          </a:bodyPr>
          <a:lstStyle/>
          <a:p>
            <a:pPr algn="l"/>
            <a:r>
              <a:rPr sz="1300" b="0" i="0">
                <a:solidFill>
                  <a:srgbClr val="1D2A33"/>
                </a:solidFill>
                <a:latin typeface="Arial"/>
              </a:rPr>
              <a:t>Buoy to matched ERA5 node (KD-tree on the sphere)</a:t>
            </a:r>
          </a:p>
        </p:txBody>
      </p:sp>
      <p:sp>
        <p:nvSpPr>
          <p:cNvPr id="16" name="stat card"/>
          <p:cNvSpPr/>
          <p:nvPr/>
        </p:nvSpPr>
        <p:spPr>
          <a:xfrm>
            <a:off x="3291840" y="3246120"/>
            <a:ext cx="2606040"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tat value"/>
          <p:cNvSpPr txBox="1"/>
          <p:nvPr/>
        </p:nvSpPr>
        <p:spPr>
          <a:xfrm>
            <a:off x="3429000" y="3319272"/>
            <a:ext cx="2331720" cy="841248"/>
          </a:xfrm>
          <a:prstGeom prst="rect">
            <a:avLst/>
          </a:prstGeom>
          <a:noFill/>
        </p:spPr>
        <p:txBody>
          <a:bodyPr wrap="square" lIns="73152" rIns="73152" tIns="73152" bIns="73152" anchor="t">
            <a:spAutoFit/>
          </a:bodyPr>
          <a:lstStyle/>
          <a:p>
            <a:pPr algn="l"/>
            <a:r>
              <a:rPr sz="4000" b="1" i="0">
                <a:solidFill>
                  <a:srgbClr val="1B7F8C"/>
                </a:solidFill>
                <a:latin typeface="Arial"/>
              </a:rPr>
              <a:t>0</a:t>
            </a:r>
          </a:p>
        </p:txBody>
      </p:sp>
      <p:sp>
        <p:nvSpPr>
          <p:cNvPr id="18" name="stat label"/>
          <p:cNvSpPr txBox="1"/>
          <p:nvPr/>
        </p:nvSpPr>
        <p:spPr>
          <a:xfrm>
            <a:off x="3429000" y="4087368"/>
            <a:ext cx="2331720" cy="530352"/>
          </a:xfrm>
          <a:prstGeom prst="rect">
            <a:avLst/>
          </a:prstGeom>
          <a:noFill/>
        </p:spPr>
        <p:txBody>
          <a:bodyPr wrap="square" lIns="73152" rIns="73152" tIns="73152" bIns="73152" anchor="t">
            <a:spAutoFit/>
          </a:bodyPr>
          <a:lstStyle/>
          <a:p>
            <a:pPr algn="l"/>
            <a:r>
              <a:rPr sz="1300" b="0" i="0">
                <a:solidFill>
                  <a:srgbClr val="1D2A33"/>
                </a:solidFill>
                <a:latin typeface="Arial"/>
              </a:rPr>
              <a:t>Missing hours after quality control</a:t>
            </a:r>
          </a:p>
        </p:txBody>
      </p:sp>
      <p:sp>
        <p:nvSpPr>
          <p:cNvPr id="19" name="data notes"/>
          <p:cNvSpPr txBox="1"/>
          <p:nvPr/>
        </p:nvSpPr>
        <p:spPr>
          <a:xfrm>
            <a:off x="548640" y="4846320"/>
            <a:ext cx="5349240" cy="1371600"/>
          </a:xfrm>
          <a:prstGeom prst="rect">
            <a:avLst/>
          </a:prstGeom>
          <a:noFill/>
        </p:spPr>
        <p:txBody>
          <a:bodyPr wrap="square" lIns="73152" rIns="73152" tIns="73152" bIns="73152" anchor="t">
            <a:spAutoFit/>
          </a:bodyPr>
          <a:lstStyle/>
          <a:p>
            <a:pPr algn="l" marL="274320" indent="-228600">
              <a:buFont typeface="Arial"/>
              <a:buChar char="•"/>
            </a:pPr>
            <a:r>
              <a:rPr sz="1400" b="0" i="0">
                <a:solidFill>
                  <a:srgbClr val="1D2A33"/>
                </a:solidFill>
                <a:latin typeface="Arial"/>
              </a:rPr>
              <a:t>Buoy reader, spike test and gap rules are built and tested; OMNI data were not yet received</a:t>
            </a:r>
          </a:p>
          <a:p>
            <a:pPr algn="l" marL="274320" indent="-228600">
              <a:spcBef>
                <a:spcPts val="600"/>
              </a:spcBef>
              <a:buFont typeface="Arial"/>
              <a:buChar char="•"/>
            </a:pPr>
            <a:r>
              <a:rPr sz="1400" b="0" i="0">
                <a:solidFill>
                  <a:srgbClr val="1D2A33"/>
                </a:solidFill>
                <a:latin typeface="Arial"/>
              </a:rPr>
              <a:t>So the target here is ERA5 Hs at the buoy positions</a:t>
            </a:r>
          </a:p>
        </p:txBody>
      </p:sp>
      <p:pic>
        <p:nvPicPr>
          <p:cNvPr id="20" name="figure" descr="fig_season.png"/>
          <p:cNvPicPr>
            <a:picLocks noChangeAspect="1"/>
          </p:cNvPicPr>
          <p:nvPr/>
        </p:nvPicPr>
        <p:blipFill>
          <a:blip r:embed="rId3"/>
          <a:stretch>
            <a:fillRect/>
          </a:stretch>
        </p:blipFill>
        <p:spPr>
          <a:xfrm>
            <a:off x="6490147" y="1645920"/>
            <a:ext cx="4941944" cy="2560320"/>
          </a:xfrm>
          <a:prstGeom prst="rect">
            <a:avLst/>
          </a:prstGeom>
        </p:spPr>
      </p:pic>
      <p:graphicFrame>
        <p:nvGraphicFramePr>
          <p:cNvPr id="21" name="table"/>
          <p:cNvGraphicFramePr>
            <a:graphicFrameLocks noGrp="1"/>
          </p:cNvGraphicFramePr>
          <p:nvPr/>
        </p:nvGraphicFramePr>
        <p:xfrm>
          <a:off x="6309360" y="4434840"/>
          <a:ext cx="5257800" cy="1645920"/>
        </p:xfrm>
        <a:graphic>
          <a:graphicData uri="http://schemas.openxmlformats.org/drawingml/2006/table">
            <a:tbl>
              <a:tblPr firstRow="1" bandRow="1">
                <a:tableStyleId>{5C22544A-7EE6-4342-B048-85BDC9FD1C3A}</a:tableStyleId>
              </a:tblPr>
              <a:tblGrid>
                <a:gridCol w="914400"/>
                <a:gridCol w="1645920"/>
                <a:gridCol w="2697480"/>
              </a:tblGrid>
              <a:tr h="329184">
                <a:tc>
                  <a:txBody>
                    <a:bodyPr wrap="square"/>
                    <a:lstStyle/>
                    <a:p>
                      <a:pPr algn="l"/>
                      <a:r>
                        <a:rPr sz="1200" b="1">
                          <a:solidFill>
                            <a:srgbClr val="FFFFFF"/>
                          </a:solidFill>
                          <a:latin typeface="Arial"/>
                        </a:rPr>
                        <a:t>Block</a:t>
                      </a:r>
                    </a:p>
                  </a:txBody>
                  <a:tcPr marL="73152" marR="73152" marT="27432" marB="27432" anchor="ctr">
                    <a:solidFill>
                      <a:srgbClr val="0B2545"/>
                    </a:solidFill>
                  </a:tcPr>
                </a:tc>
                <a:tc>
                  <a:txBody>
                    <a:bodyPr wrap="square"/>
                    <a:lstStyle/>
                    <a:p>
                      <a:pPr algn="ctr"/>
                      <a:r>
                        <a:rPr sz="1200" b="1">
                          <a:solidFill>
                            <a:srgbClr val="FFFFFF"/>
                          </a:solidFill>
                          <a:latin typeface="Arial"/>
                        </a:rPr>
                        <a:t>Years</a:t>
                      </a:r>
                    </a:p>
                  </a:txBody>
                  <a:tcPr marL="73152" marR="73152" marT="27432" marB="27432" anchor="ctr">
                    <a:solidFill>
                      <a:srgbClr val="0B2545"/>
                    </a:solidFill>
                  </a:tcPr>
                </a:tc>
                <a:tc>
                  <a:txBody>
                    <a:bodyPr wrap="square"/>
                    <a:lstStyle/>
                    <a:p>
                      <a:pPr algn="ctr"/>
                      <a:r>
                        <a:rPr sz="1200" b="1">
                          <a:solidFill>
                            <a:srgbClr val="FFFFFF"/>
                          </a:solidFill>
                          <a:latin typeface="Arial"/>
                        </a:rPr>
                        <a:t>Use</a:t>
                      </a:r>
                    </a:p>
                  </a:txBody>
                  <a:tcPr marL="73152" marR="73152" marT="27432" marB="27432" anchor="ctr">
                    <a:solidFill>
                      <a:srgbClr val="0B2545"/>
                    </a:solidFill>
                  </a:tcPr>
                </a:tc>
              </a:tr>
              <a:tr h="329184">
                <a:tc>
                  <a:txBody>
                    <a:bodyPr wrap="square"/>
                    <a:lstStyle/>
                    <a:p>
                      <a:pPr algn="l"/>
                      <a:r>
                        <a:rPr sz="1200" b="0">
                          <a:solidFill>
                            <a:srgbClr val="1D2A33"/>
                          </a:solidFill>
                          <a:latin typeface="Arial"/>
                        </a:rPr>
                        <a:t>Fit</a:t>
                      </a:r>
                    </a:p>
                  </a:txBody>
                  <a:tcPr marL="73152" marR="73152" marT="27432" marB="27432" anchor="ctr">
                    <a:solidFill>
                      <a:srgbClr val="FFFFFF"/>
                    </a:solidFill>
                  </a:tcPr>
                </a:tc>
                <a:tc>
                  <a:txBody>
                    <a:bodyPr wrap="square"/>
                    <a:lstStyle/>
                    <a:p>
                      <a:pPr algn="ctr"/>
                      <a:r>
                        <a:rPr sz="1200" b="0">
                          <a:solidFill>
                            <a:srgbClr val="1D2A33"/>
                          </a:solidFill>
                          <a:latin typeface="Arial"/>
                        </a:rPr>
                        <a:t>2015–2019</a:t>
                      </a:r>
                    </a:p>
                  </a:txBody>
                  <a:tcPr marL="73152" marR="73152" marT="27432" marB="27432" anchor="ctr">
                    <a:solidFill>
                      <a:srgbClr val="FFFFFF"/>
                    </a:solidFill>
                  </a:tcPr>
                </a:tc>
                <a:tc>
                  <a:txBody>
                    <a:bodyPr wrap="square"/>
                    <a:lstStyle/>
                    <a:p>
                      <a:pPr algn="ctr"/>
                      <a:r>
                        <a:rPr sz="1200" b="0">
                          <a:solidFill>
                            <a:srgbClr val="1D2A33"/>
                          </a:solidFill>
                          <a:latin typeface="Arial"/>
                        </a:rPr>
                        <a:t>Training</a:t>
                      </a:r>
                    </a:p>
                  </a:txBody>
                  <a:tcPr marL="73152" marR="73152" marT="27432" marB="27432" anchor="ctr">
                    <a:solidFill>
                      <a:srgbClr val="FFFFFF"/>
                    </a:solidFill>
                  </a:tcPr>
                </a:tc>
              </a:tr>
              <a:tr h="329184">
                <a:tc>
                  <a:txBody>
                    <a:bodyPr wrap="square"/>
                    <a:lstStyle/>
                    <a:p>
                      <a:pPr algn="l"/>
                      <a:r>
                        <a:rPr sz="1200" b="0">
                          <a:solidFill>
                            <a:srgbClr val="1D2A33"/>
                          </a:solidFill>
                          <a:latin typeface="Arial"/>
                        </a:rPr>
                        <a:t>Early stop</a:t>
                      </a:r>
                    </a:p>
                  </a:txBody>
                  <a:tcPr marL="73152" marR="73152" marT="27432" marB="27432" anchor="ctr">
                    <a:solidFill>
                      <a:srgbClr val="F3F6F7"/>
                    </a:solidFill>
                  </a:tcPr>
                </a:tc>
                <a:tc>
                  <a:txBody>
                    <a:bodyPr wrap="square"/>
                    <a:lstStyle/>
                    <a:p>
                      <a:pPr algn="ctr"/>
                      <a:r>
                        <a:rPr sz="1200" b="0">
                          <a:solidFill>
                            <a:srgbClr val="1D2A33"/>
                          </a:solidFill>
                          <a:latin typeface="Arial"/>
                        </a:rPr>
                        <a:t>2020</a:t>
                      </a:r>
                    </a:p>
                  </a:txBody>
                  <a:tcPr marL="73152" marR="73152" marT="27432" marB="27432" anchor="ctr">
                    <a:solidFill>
                      <a:srgbClr val="F3F6F7"/>
                    </a:solidFill>
                  </a:tcPr>
                </a:tc>
                <a:tc>
                  <a:txBody>
                    <a:bodyPr wrap="square"/>
                    <a:lstStyle/>
                    <a:p>
                      <a:pPr algn="ctr"/>
                      <a:r>
                        <a:rPr sz="1200" b="0">
                          <a:solidFill>
                            <a:srgbClr val="1D2A33"/>
                          </a:solidFill>
                          <a:latin typeface="Arial"/>
                        </a:rPr>
                        <a:t>Rounds / epochs</a:t>
                      </a:r>
                    </a:p>
                  </a:txBody>
                  <a:tcPr marL="73152" marR="73152" marT="27432" marB="27432" anchor="ctr">
                    <a:solidFill>
                      <a:srgbClr val="F3F6F7"/>
                    </a:solidFill>
                  </a:tcPr>
                </a:tc>
              </a:tr>
              <a:tr h="329184">
                <a:tc>
                  <a:txBody>
                    <a:bodyPr wrap="square"/>
                    <a:lstStyle/>
                    <a:p>
                      <a:pPr algn="l"/>
                      <a:r>
                        <a:rPr sz="1200" b="0">
                          <a:solidFill>
                            <a:srgbClr val="1D2A33"/>
                          </a:solidFill>
                          <a:latin typeface="Arial"/>
                        </a:rPr>
                        <a:t>Validation</a:t>
                      </a:r>
                    </a:p>
                  </a:txBody>
                  <a:tcPr marL="73152" marR="73152" marT="27432" marB="27432" anchor="ctr">
                    <a:solidFill>
                      <a:srgbClr val="FFFFFF"/>
                    </a:solidFill>
                  </a:tcPr>
                </a:tc>
                <a:tc>
                  <a:txBody>
                    <a:bodyPr wrap="square"/>
                    <a:lstStyle/>
                    <a:p>
                      <a:pPr algn="ctr"/>
                      <a:r>
                        <a:rPr sz="1200" b="0">
                          <a:solidFill>
                            <a:srgbClr val="1D2A33"/>
                          </a:solidFill>
                          <a:latin typeface="Arial"/>
                        </a:rPr>
                        <a:t>2021–2022</a:t>
                      </a:r>
                    </a:p>
                  </a:txBody>
                  <a:tcPr marL="73152" marR="73152" marT="27432" marB="27432" anchor="ctr">
                    <a:solidFill>
                      <a:srgbClr val="FFFFFF"/>
                    </a:solidFill>
                  </a:tcPr>
                </a:tc>
                <a:tc>
                  <a:txBody>
                    <a:bodyPr wrap="square"/>
                    <a:lstStyle/>
                    <a:p>
                      <a:pPr algn="ctr"/>
                      <a:r>
                        <a:rPr sz="1200" b="0">
                          <a:solidFill>
                            <a:srgbClr val="1D2A33"/>
                          </a:solidFill>
                          <a:latin typeface="Arial"/>
                        </a:rPr>
                        <a:t>Hyperparameters</a:t>
                      </a:r>
                    </a:p>
                  </a:txBody>
                  <a:tcPr marL="73152" marR="73152" marT="27432" marB="27432" anchor="ctr">
                    <a:solidFill>
                      <a:srgbClr val="FFFFFF"/>
                    </a:solidFill>
                  </a:tcPr>
                </a:tc>
              </a:tr>
              <a:tr h="329184">
                <a:tc>
                  <a:txBody>
                    <a:bodyPr wrap="square"/>
                    <a:lstStyle/>
                    <a:p>
                      <a:pPr algn="l"/>
                      <a:r>
                        <a:rPr sz="1200" b="0">
                          <a:solidFill>
                            <a:srgbClr val="1D2A33"/>
                          </a:solidFill>
                          <a:latin typeface="Arial"/>
                        </a:rPr>
                        <a:t>Test</a:t>
                      </a:r>
                    </a:p>
                  </a:txBody>
                  <a:tcPr marL="73152" marR="73152" marT="27432" marB="27432" anchor="ctr">
                    <a:solidFill>
                      <a:srgbClr val="F3F6F7"/>
                    </a:solidFill>
                  </a:tcPr>
                </a:tc>
                <a:tc>
                  <a:txBody>
                    <a:bodyPr wrap="square"/>
                    <a:lstStyle/>
                    <a:p>
                      <a:pPr algn="ctr"/>
                      <a:r>
                        <a:rPr sz="1200" b="0">
                          <a:solidFill>
                            <a:srgbClr val="1D2A33"/>
                          </a:solidFill>
                          <a:latin typeface="Arial"/>
                        </a:rPr>
                        <a:t>2023–2024</a:t>
                      </a:r>
                    </a:p>
                  </a:txBody>
                  <a:tcPr marL="73152" marR="73152" marT="27432" marB="27432" anchor="ctr">
                    <a:solidFill>
                      <a:srgbClr val="F3F6F7"/>
                    </a:solidFill>
                  </a:tcPr>
                </a:tc>
                <a:tc>
                  <a:txBody>
                    <a:bodyPr wrap="square"/>
                    <a:lstStyle/>
                    <a:p>
                      <a:pPr algn="ctr"/>
                      <a:r>
                        <a:rPr sz="1200" b="0">
                          <a:solidFill>
                            <a:srgbClr val="1D2A33"/>
                          </a:solidFill>
                          <a:latin typeface="Arial"/>
                        </a:rPr>
                        <a:t>Reported results only</a:t>
                      </a:r>
                    </a:p>
                  </a:txBody>
                  <a:tcPr marL="73152" marR="73152" marT="27432" marB="27432" anchor="ctr">
                    <a:solidFill>
                      <a:srgbClr val="F3F6F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Methodology: five phases, one guardrail</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Every input at or before the forecast origin; every block holds all inputs and targets of its samples</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5 / 21</a:t>
            </a:r>
          </a:p>
        </p:txBody>
      </p:sp>
      <p:pic>
        <p:nvPicPr>
          <p:cNvPr id="6" name="figure" descr="fig_flowchart.png"/>
          <p:cNvPicPr>
            <a:picLocks noChangeAspect="1"/>
          </p:cNvPicPr>
          <p:nvPr/>
        </p:nvPicPr>
        <p:blipFill>
          <a:blip r:embed="rId3"/>
          <a:stretch>
            <a:fillRect/>
          </a:stretch>
        </p:blipFill>
        <p:spPr>
          <a:xfrm>
            <a:off x="3225980" y="1463040"/>
            <a:ext cx="5709559" cy="48463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Zero look-ahead, by construction and by test</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The common multi-step leak: the last training samples have targets inside the validation period</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6 / 21</a:t>
            </a:r>
          </a:p>
        </p:txBody>
      </p:sp>
      <p:sp>
        <p:nvSpPr>
          <p:cNvPr id="6" name="card"/>
          <p:cNvSpPr/>
          <p:nvPr/>
        </p:nvSpPr>
        <p:spPr>
          <a:xfrm>
            <a:off x="548640" y="1600200"/>
            <a:ext cx="5394960"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dge"/>
          <p:cNvSpPr/>
          <p:nvPr/>
        </p:nvSpPr>
        <p:spPr>
          <a:xfrm>
            <a:off x="731520" y="18013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8" name="card heading"/>
          <p:cNvSpPr txBox="1"/>
          <p:nvPr/>
        </p:nvSpPr>
        <p:spPr>
          <a:xfrm>
            <a:off x="1325880" y="175564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Containment rule</a:t>
            </a:r>
          </a:p>
        </p:txBody>
      </p:sp>
      <p:sp>
        <p:nvSpPr>
          <p:cNvPr id="9" name="card body"/>
          <p:cNvSpPr txBox="1"/>
          <p:nvPr/>
        </p:nvSpPr>
        <p:spPr>
          <a:xfrm>
            <a:off x="1325880" y="2221992"/>
            <a:ext cx="4480560" cy="685800"/>
          </a:xfrm>
          <a:prstGeom prst="rect">
            <a:avLst/>
          </a:prstGeom>
          <a:noFill/>
        </p:spPr>
        <p:txBody>
          <a:bodyPr wrap="square" lIns="73152" rIns="73152" tIns="73152" bIns="73152" anchor="t">
            <a:spAutoFit/>
          </a:bodyPr>
          <a:lstStyle/>
          <a:p>
            <a:pPr algn="l"/>
            <a:r>
              <a:rPr sz="1400" b="0" i="0">
                <a:solidFill>
                  <a:srgbClr val="1D2A33"/>
                </a:solidFill>
                <a:latin typeface="Arial"/>
              </a:rPr>
              <a:t>A sample with origin t belongs to block [Ts, Te] only if t − 72 h ≥ Ts and t + 72 h ≤ Te</a:t>
            </a:r>
          </a:p>
        </p:txBody>
      </p:sp>
      <p:sp>
        <p:nvSpPr>
          <p:cNvPr id="10" name="card"/>
          <p:cNvSpPr/>
          <p:nvPr/>
        </p:nvSpPr>
        <p:spPr>
          <a:xfrm>
            <a:off x="6217920" y="1600200"/>
            <a:ext cx="5394960"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dge"/>
          <p:cNvSpPr/>
          <p:nvPr/>
        </p:nvSpPr>
        <p:spPr>
          <a:xfrm>
            <a:off x="6400800" y="18013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2" name="card heading"/>
          <p:cNvSpPr txBox="1"/>
          <p:nvPr/>
        </p:nvSpPr>
        <p:spPr>
          <a:xfrm>
            <a:off x="6995159" y="175564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Causal features</a:t>
            </a:r>
          </a:p>
        </p:txBody>
      </p:sp>
      <p:sp>
        <p:nvSpPr>
          <p:cNvPr id="13" name="card body"/>
          <p:cNvSpPr txBox="1"/>
          <p:nvPr/>
        </p:nvSpPr>
        <p:spPr>
          <a:xfrm>
            <a:off x="6995159" y="2221992"/>
            <a:ext cx="4480560" cy="685800"/>
          </a:xfrm>
          <a:prstGeom prst="rect">
            <a:avLst/>
          </a:prstGeom>
          <a:noFill/>
        </p:spPr>
        <p:txBody>
          <a:bodyPr wrap="square" lIns="73152" rIns="73152" tIns="73152" bIns="73152" anchor="t">
            <a:spAutoFit/>
          </a:bodyPr>
          <a:lstStyle/>
          <a:p>
            <a:pPr algn="l"/>
            <a:r>
              <a:rPr sz="1400" b="0" i="0">
                <a:solidFill>
                  <a:srgbClr val="1D2A33"/>
                </a:solidFill>
                <a:latin typeface="Arial"/>
              </a:rPr>
              <a:t>Backward differences and trailing windows only; a test changes the future and checks the past is unchanged</a:t>
            </a:r>
          </a:p>
        </p:txBody>
      </p:sp>
      <p:sp>
        <p:nvSpPr>
          <p:cNvPr id="14" name="card"/>
          <p:cNvSpPr/>
          <p:nvPr/>
        </p:nvSpPr>
        <p:spPr>
          <a:xfrm>
            <a:off x="548640" y="3200400"/>
            <a:ext cx="5394960"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dge"/>
          <p:cNvSpPr/>
          <p:nvPr/>
        </p:nvSpPr>
        <p:spPr>
          <a:xfrm>
            <a:off x="731520" y="34015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16" name="card heading"/>
          <p:cNvSpPr txBox="1"/>
          <p:nvPr/>
        </p:nvSpPr>
        <p:spPr>
          <a:xfrm>
            <a:off x="1325880" y="335584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Causal gap filling</a:t>
            </a:r>
          </a:p>
        </p:txBody>
      </p:sp>
      <p:sp>
        <p:nvSpPr>
          <p:cNvPr id="17" name="card body"/>
          <p:cNvSpPr txBox="1"/>
          <p:nvPr/>
        </p:nvSpPr>
        <p:spPr>
          <a:xfrm>
            <a:off x="1325880" y="3822191"/>
            <a:ext cx="4480560" cy="685800"/>
          </a:xfrm>
          <a:prstGeom prst="rect">
            <a:avLst/>
          </a:prstGeom>
          <a:noFill/>
        </p:spPr>
        <p:txBody>
          <a:bodyPr wrap="square" lIns="73152" rIns="73152" tIns="73152" bIns="73152" anchor="t">
            <a:spAutoFit/>
          </a:bodyPr>
          <a:lstStyle/>
          <a:p>
            <a:pPr algn="l"/>
            <a:r>
              <a:rPr sz="1400" b="0" i="0">
                <a:solidFill>
                  <a:srgbClr val="1D2A33"/>
                </a:solidFill>
                <a:latin typeface="Arial"/>
              </a:rPr>
              <a:t>Forward fill only, because interpolation would read past the gap. Filled values are never targets</a:t>
            </a:r>
          </a:p>
        </p:txBody>
      </p:sp>
      <p:sp>
        <p:nvSpPr>
          <p:cNvPr id="18" name="card"/>
          <p:cNvSpPr/>
          <p:nvPr/>
        </p:nvSpPr>
        <p:spPr>
          <a:xfrm>
            <a:off x="6217920" y="3200400"/>
            <a:ext cx="5394960" cy="1417320"/>
          </a:xfrm>
          <a:prstGeom prst="roundRect">
            <a:avLst>
              <a:gd name="adj" fmla="val 11612"/>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dge"/>
          <p:cNvSpPr/>
          <p:nvPr/>
        </p:nvSpPr>
        <p:spPr>
          <a:xfrm>
            <a:off x="6400800" y="34015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4</a:t>
            </a:r>
          </a:p>
        </p:txBody>
      </p:sp>
      <p:sp>
        <p:nvSpPr>
          <p:cNvPr id="20" name="card heading"/>
          <p:cNvSpPr txBox="1"/>
          <p:nvPr/>
        </p:nvSpPr>
        <p:spPr>
          <a:xfrm>
            <a:off x="6995159" y="335584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Train-only statistics</a:t>
            </a:r>
          </a:p>
        </p:txBody>
      </p:sp>
      <p:sp>
        <p:nvSpPr>
          <p:cNvPr id="21" name="card body"/>
          <p:cNvSpPr txBox="1"/>
          <p:nvPr/>
        </p:nvSpPr>
        <p:spPr>
          <a:xfrm>
            <a:off x="6995159" y="3822191"/>
            <a:ext cx="4480560" cy="685800"/>
          </a:xfrm>
          <a:prstGeom prst="rect">
            <a:avLst/>
          </a:prstGeom>
          <a:noFill/>
        </p:spPr>
        <p:txBody>
          <a:bodyPr wrap="square" lIns="73152" rIns="73152" tIns="73152" bIns="73152" anchor="t">
            <a:spAutoFit/>
          </a:bodyPr>
          <a:lstStyle/>
          <a:p>
            <a:pPr algn="l"/>
            <a:r>
              <a:rPr sz="1400" b="0" i="0">
                <a:solidFill>
                  <a:srgbClr val="1D2A33"/>
                </a:solidFill>
                <a:latin typeface="Arial"/>
              </a:rPr>
              <a:t>Scalers, peak threshold and climatology are computed on the fit block alone</a:t>
            </a:r>
          </a:p>
        </p:txBody>
      </p:sp>
      <p:sp>
        <p:nvSpPr>
          <p:cNvPr id="22" name="split banner"/>
          <p:cNvSpPr/>
          <p:nvPr/>
        </p:nvSpPr>
        <p:spPr>
          <a:xfrm>
            <a:off x="548640" y="4800600"/>
            <a:ext cx="11064240" cy="137160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plit stat"/>
          <p:cNvSpPr txBox="1"/>
          <p:nvPr/>
        </p:nvSpPr>
        <p:spPr>
          <a:xfrm>
            <a:off x="822960" y="4892040"/>
            <a:ext cx="2926080" cy="1188720"/>
          </a:xfrm>
          <a:prstGeom prst="rect">
            <a:avLst/>
          </a:prstGeom>
          <a:noFill/>
        </p:spPr>
        <p:txBody>
          <a:bodyPr wrap="square" lIns="73152" rIns="73152" tIns="73152" bIns="73152" anchor="ctr">
            <a:spAutoFit/>
          </a:bodyPr>
          <a:lstStyle/>
          <a:p>
            <a:pPr algn="l"/>
            <a:r>
              <a:rPr sz="4000" b="1" i="0">
                <a:solidFill>
                  <a:srgbClr val="E8A33D"/>
                </a:solidFill>
                <a:latin typeface="Arial"/>
              </a:rPr>
              <a:t>3 blocks</a:t>
            </a:r>
          </a:p>
        </p:txBody>
      </p:sp>
      <p:sp>
        <p:nvSpPr>
          <p:cNvPr id="24" name="split text"/>
          <p:cNvSpPr txBox="1"/>
          <p:nvPr/>
        </p:nvSpPr>
        <p:spPr>
          <a:xfrm>
            <a:off x="3657600" y="4892040"/>
            <a:ext cx="7772400" cy="1188720"/>
          </a:xfrm>
          <a:prstGeom prst="rect">
            <a:avLst/>
          </a:prstGeom>
          <a:noFill/>
        </p:spPr>
        <p:txBody>
          <a:bodyPr wrap="square" lIns="73152" rIns="73152" tIns="73152" bIns="73152" anchor="ctr">
            <a:spAutoFit/>
          </a:bodyPr>
          <a:lstStyle/>
          <a:p>
            <a:pPr algn="l"/>
            <a:r>
              <a:rPr sz="1500" b="0" i="0">
                <a:solidFill>
                  <a:srgbClr val="FFFFFF"/>
                </a:solidFill>
                <a:latin typeface="Arial"/>
              </a:rPr>
              <a:t>Early stopping (2020), hyperparameter selection (2021–22) and reporting (2023–24) never share data, so the validation score is optimised only once and the test score is untouched.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Features encode the physics of wave generation</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Wind stress, duration, pressure falls, stability and direction, all from data at or before t</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7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Drag coefficient after Large and Pond (1981), held constant above 25 m/s (Powell et al. 2003)</a:t>
            </a:r>
          </a:p>
        </p:txBody>
      </p:sp>
      <p:graphicFrame>
        <p:nvGraphicFramePr>
          <p:cNvPr id="7" name="table"/>
          <p:cNvGraphicFramePr>
            <a:graphicFrameLocks noGrp="1"/>
          </p:cNvGraphicFramePr>
          <p:nvPr/>
        </p:nvGraphicFramePr>
        <p:xfrm>
          <a:off x="548640" y="1600200"/>
          <a:ext cx="11064240" cy="4279392"/>
        </p:xfrm>
        <a:graphic>
          <a:graphicData uri="http://schemas.openxmlformats.org/drawingml/2006/table">
            <a:tbl>
              <a:tblPr firstRow="1" bandRow="1">
                <a:tableStyleId>{5C22544A-7EE6-4342-B048-85BDC9FD1C3A}</a:tableStyleId>
              </a:tblPr>
              <a:tblGrid>
                <a:gridCol w="2377440"/>
                <a:gridCol w="3840480"/>
                <a:gridCol w="4846320"/>
              </a:tblGrid>
              <a:tr h="475488">
                <a:tc>
                  <a:txBody>
                    <a:bodyPr wrap="square"/>
                    <a:lstStyle/>
                    <a:p>
                      <a:pPr algn="l"/>
                      <a:r>
                        <a:rPr sz="1300" b="1">
                          <a:solidFill>
                            <a:srgbClr val="FFFFFF"/>
                          </a:solidFill>
                          <a:latin typeface="Arial"/>
                        </a:rPr>
                        <a:t>Feature</a:t>
                      </a:r>
                    </a:p>
                  </a:txBody>
                  <a:tcPr marL="73152" marR="73152" marT="27432" marB="27432" anchor="ctr">
                    <a:solidFill>
                      <a:srgbClr val="0B2545"/>
                    </a:solidFill>
                  </a:tcPr>
                </a:tc>
                <a:tc>
                  <a:txBody>
                    <a:bodyPr wrap="square"/>
                    <a:lstStyle/>
                    <a:p>
                      <a:pPr algn="ctr"/>
                      <a:r>
                        <a:rPr sz="1300" b="1">
                          <a:solidFill>
                            <a:srgbClr val="FFFFFF"/>
                          </a:solidFill>
                          <a:latin typeface="Arial"/>
                        </a:rPr>
                        <a:t>Definition</a:t>
                      </a:r>
                    </a:p>
                  </a:txBody>
                  <a:tcPr marL="73152" marR="73152" marT="27432" marB="27432" anchor="ctr">
                    <a:solidFill>
                      <a:srgbClr val="0B2545"/>
                    </a:solidFill>
                  </a:tcPr>
                </a:tc>
                <a:tc>
                  <a:txBody>
                    <a:bodyPr wrap="square"/>
                    <a:lstStyle/>
                    <a:p>
                      <a:pPr algn="ctr"/>
                      <a:r>
                        <a:rPr sz="1300" b="1">
                          <a:solidFill>
                            <a:srgbClr val="FFFFFF"/>
                          </a:solidFill>
                          <a:latin typeface="Arial"/>
                        </a:rPr>
                        <a:t>Why it matters</a:t>
                      </a:r>
                    </a:p>
                  </a:txBody>
                  <a:tcPr marL="73152" marR="73152" marT="27432" marB="27432" anchor="ctr">
                    <a:solidFill>
                      <a:srgbClr val="0B2545"/>
                    </a:solidFill>
                  </a:tcPr>
                </a:tc>
              </a:tr>
              <a:tr h="475488">
                <a:tc>
                  <a:txBody>
                    <a:bodyPr wrap="square"/>
                    <a:lstStyle/>
                    <a:p>
                      <a:pPr algn="l"/>
                      <a:r>
                        <a:rPr sz="1300" b="0">
                          <a:solidFill>
                            <a:srgbClr val="1D2A33"/>
                          </a:solidFill>
                          <a:latin typeface="Arial"/>
                        </a:rPr>
                        <a:t>Wind stress τ</a:t>
                      </a:r>
                    </a:p>
                  </a:txBody>
                  <a:tcPr marL="73152" marR="73152" marT="27432" marB="27432" anchor="ctr">
                    <a:solidFill>
                      <a:srgbClr val="FFFFFF"/>
                    </a:solidFill>
                  </a:tcPr>
                </a:tc>
                <a:tc>
                  <a:txBody>
                    <a:bodyPr wrap="square"/>
                    <a:lstStyle/>
                    <a:p>
                      <a:pPr algn="ctr"/>
                      <a:r>
                        <a:rPr sz="1300" b="0">
                          <a:solidFill>
                            <a:srgbClr val="1D2A33"/>
                          </a:solidFill>
                          <a:latin typeface="Arial"/>
                        </a:rPr>
                        <a:t>ρa Cd(U) |U| (u, v)</a:t>
                      </a:r>
                    </a:p>
                  </a:txBody>
                  <a:tcPr marL="73152" marR="73152" marT="27432" marB="27432" anchor="ctr">
                    <a:solidFill>
                      <a:srgbClr val="FFFFFF"/>
                    </a:solidFill>
                  </a:tcPr>
                </a:tc>
                <a:tc>
                  <a:txBody>
                    <a:bodyPr wrap="square"/>
                    <a:lstStyle/>
                    <a:p>
                      <a:pPr algn="ctr"/>
                      <a:r>
                        <a:rPr sz="1300" b="0">
                          <a:solidFill>
                            <a:srgbClr val="1D2A33"/>
                          </a:solidFill>
                          <a:latin typeface="Arial"/>
                        </a:rPr>
                        <a:t>Momentum input to the sea; grows ≈ U²</a:t>
                      </a:r>
                    </a:p>
                  </a:txBody>
                  <a:tcPr marL="73152" marR="73152" marT="27432" marB="27432" anchor="ctr">
                    <a:solidFill>
                      <a:srgbClr val="FFFFFF"/>
                    </a:solidFill>
                  </a:tcPr>
                </a:tc>
              </a:tr>
              <a:tr h="475488">
                <a:tc>
                  <a:txBody>
                    <a:bodyPr wrap="square"/>
                    <a:lstStyle/>
                    <a:p>
                      <a:pPr algn="l"/>
                      <a:r>
                        <a:rPr sz="1300" b="0">
                          <a:solidFill>
                            <a:srgbClr val="1D2A33"/>
                          </a:solidFill>
                          <a:latin typeface="Arial"/>
                        </a:rPr>
                        <a:t>Stress history</a:t>
                      </a:r>
                    </a:p>
                  </a:txBody>
                  <a:tcPr marL="73152" marR="73152" marT="27432" marB="27432" anchor="ctr">
                    <a:solidFill>
                      <a:srgbClr val="F3F6F7"/>
                    </a:solidFill>
                  </a:tcPr>
                </a:tc>
                <a:tc>
                  <a:txBody>
                    <a:bodyPr wrap="square"/>
                    <a:lstStyle/>
                    <a:p>
                      <a:pPr algn="ctr"/>
                      <a:r>
                        <a:rPr sz="1300" b="0">
                          <a:solidFill>
                            <a:srgbClr val="1D2A33"/>
                          </a:solidFill>
                          <a:latin typeface="Arial"/>
                        </a:rPr>
                        <a:t>mean τ, max U over 6, 12, 24 h</a:t>
                      </a:r>
                    </a:p>
                  </a:txBody>
                  <a:tcPr marL="73152" marR="73152" marT="27432" marB="27432" anchor="ctr">
                    <a:solidFill>
                      <a:srgbClr val="F3F6F7"/>
                    </a:solidFill>
                  </a:tcPr>
                </a:tc>
                <a:tc>
                  <a:txBody>
                    <a:bodyPr wrap="square"/>
                    <a:lstStyle/>
                    <a:p>
                      <a:pPr algn="ctr"/>
                      <a:r>
                        <a:rPr sz="1300" b="0">
                          <a:solidFill>
                            <a:srgbClr val="1D2A33"/>
                          </a:solidFill>
                          <a:latin typeface="Arial"/>
                        </a:rPr>
                        <a:t>Waves are duration-limited</a:t>
                      </a:r>
                    </a:p>
                  </a:txBody>
                  <a:tcPr marL="73152" marR="73152" marT="27432" marB="27432" anchor="ctr">
                    <a:solidFill>
                      <a:srgbClr val="F3F6F7"/>
                    </a:solidFill>
                  </a:tcPr>
                </a:tc>
              </a:tr>
              <a:tr h="475488">
                <a:tc>
                  <a:txBody>
                    <a:bodyPr wrap="square"/>
                    <a:lstStyle/>
                    <a:p>
                      <a:pPr algn="l"/>
                      <a:r>
                        <a:rPr sz="1300" b="0">
                          <a:solidFill>
                            <a:srgbClr val="1D2A33"/>
                          </a:solidFill>
                          <a:latin typeface="Arial"/>
                        </a:rPr>
                        <a:t>Pressure tendency</a:t>
                      </a:r>
                    </a:p>
                  </a:txBody>
                  <a:tcPr marL="73152" marR="73152" marT="27432" marB="27432" anchor="ctr">
                    <a:solidFill>
                      <a:srgbClr val="FFFFFF"/>
                    </a:solidFill>
                  </a:tcPr>
                </a:tc>
                <a:tc>
                  <a:txBody>
                    <a:bodyPr wrap="square"/>
                    <a:lstStyle/>
                    <a:p>
                      <a:pPr algn="ctr"/>
                      <a:r>
                        <a:rPr sz="1300" b="0">
                          <a:solidFill>
                            <a:srgbClr val="1D2A33"/>
                          </a:solidFill>
                          <a:latin typeface="Arial"/>
                        </a:rPr>
                        <a:t>p(t) − p(t − h), h = 3, 12, 24 h</a:t>
                      </a:r>
                    </a:p>
                  </a:txBody>
                  <a:tcPr marL="73152" marR="73152" marT="27432" marB="27432" anchor="ctr">
                    <a:solidFill>
                      <a:srgbClr val="FFFFFF"/>
                    </a:solidFill>
                  </a:tcPr>
                </a:tc>
                <a:tc>
                  <a:txBody>
                    <a:bodyPr wrap="square"/>
                    <a:lstStyle/>
                    <a:p>
                      <a:pPr algn="ctr"/>
                      <a:r>
                        <a:rPr sz="1300" b="0">
                          <a:solidFill>
                            <a:srgbClr val="1D2A33"/>
                          </a:solidFill>
                          <a:latin typeface="Arial"/>
                        </a:rPr>
                        <a:t>Falling pressure warns of a depression</a:t>
                      </a:r>
                    </a:p>
                  </a:txBody>
                  <a:tcPr marL="73152" marR="73152" marT="27432" marB="27432" anchor="ctr">
                    <a:solidFill>
                      <a:srgbClr val="FFFFFF"/>
                    </a:solidFill>
                  </a:tcPr>
                </a:tc>
              </a:tr>
              <a:tr h="475488">
                <a:tc>
                  <a:txBody>
                    <a:bodyPr wrap="square"/>
                    <a:lstStyle/>
                    <a:p>
                      <a:pPr algn="l"/>
                      <a:r>
                        <a:rPr sz="1300" b="0">
                          <a:solidFill>
                            <a:srgbClr val="1D2A33"/>
                          </a:solidFill>
                          <a:latin typeface="Arial"/>
                        </a:rPr>
                        <a:t>Pressure anomaly</a:t>
                      </a:r>
                    </a:p>
                  </a:txBody>
                  <a:tcPr marL="73152" marR="73152" marT="27432" marB="27432" anchor="ctr">
                    <a:solidFill>
                      <a:srgbClr val="F3F6F7"/>
                    </a:solidFill>
                  </a:tcPr>
                </a:tc>
                <a:tc>
                  <a:txBody>
                    <a:bodyPr wrap="square"/>
                    <a:lstStyle/>
                    <a:p>
                      <a:pPr algn="ctr"/>
                      <a:r>
                        <a:rPr sz="1300" b="0">
                          <a:solidFill>
                            <a:srgbClr val="1D2A33"/>
                          </a:solidFill>
                          <a:latin typeface="Arial"/>
                        </a:rPr>
                        <a:t>p − 30-day trailing mean</a:t>
                      </a:r>
                    </a:p>
                  </a:txBody>
                  <a:tcPr marL="73152" marR="73152" marT="27432" marB="27432" anchor="ctr">
                    <a:solidFill>
                      <a:srgbClr val="F3F6F7"/>
                    </a:solidFill>
                  </a:tcPr>
                </a:tc>
                <a:tc>
                  <a:txBody>
                    <a:bodyPr wrap="square"/>
                    <a:lstStyle/>
                    <a:p>
                      <a:pPr algn="ctr"/>
                      <a:r>
                        <a:rPr sz="1300" b="0">
                          <a:solidFill>
                            <a:srgbClr val="1D2A33"/>
                          </a:solidFill>
                          <a:latin typeface="Arial"/>
                        </a:rPr>
                        <a:t>Synoptic signal without the monsoon</a:t>
                      </a:r>
                    </a:p>
                  </a:txBody>
                  <a:tcPr marL="73152" marR="73152" marT="27432" marB="27432" anchor="ctr">
                    <a:solidFill>
                      <a:srgbClr val="F3F6F7"/>
                    </a:solidFill>
                  </a:tcPr>
                </a:tc>
              </a:tr>
              <a:tr h="475488">
                <a:tc>
                  <a:txBody>
                    <a:bodyPr wrap="square"/>
                    <a:lstStyle/>
                    <a:p>
                      <a:pPr algn="l"/>
                      <a:r>
                        <a:rPr sz="1300" b="0">
                          <a:solidFill>
                            <a:srgbClr val="1D2A33"/>
                          </a:solidFill>
                          <a:latin typeface="Arial"/>
                        </a:rPr>
                        <a:t>Air–sea ΔT</a:t>
                      </a:r>
                    </a:p>
                  </a:txBody>
                  <a:tcPr marL="73152" marR="73152" marT="27432" marB="27432" anchor="ctr">
                    <a:solidFill>
                      <a:srgbClr val="FFFFFF"/>
                    </a:solidFill>
                  </a:tcPr>
                </a:tc>
                <a:tc>
                  <a:txBody>
                    <a:bodyPr wrap="square"/>
                    <a:lstStyle/>
                    <a:p>
                      <a:pPr algn="ctr"/>
                      <a:r>
                        <a:rPr sz="1300" b="0">
                          <a:solidFill>
                            <a:srgbClr val="1D2A33"/>
                          </a:solidFill>
                          <a:latin typeface="Arial"/>
                        </a:rPr>
                        <a:t>T2m − SST</a:t>
                      </a:r>
                    </a:p>
                  </a:txBody>
                  <a:tcPr marL="73152" marR="73152" marT="27432" marB="27432" anchor="ctr">
                    <a:solidFill>
                      <a:srgbClr val="FFFFFF"/>
                    </a:solidFill>
                  </a:tcPr>
                </a:tc>
                <a:tc>
                  <a:txBody>
                    <a:bodyPr wrap="square"/>
                    <a:lstStyle/>
                    <a:p>
                      <a:pPr algn="ctr"/>
                      <a:r>
                        <a:rPr sz="1300" b="0">
                          <a:solidFill>
                            <a:srgbClr val="1D2A33"/>
                          </a:solidFill>
                          <a:latin typeface="Arial"/>
                        </a:rPr>
                        <a:t>Unstable air transfers more momentum</a:t>
                      </a:r>
                    </a:p>
                  </a:txBody>
                  <a:tcPr marL="73152" marR="73152" marT="27432" marB="27432" anchor="ctr">
                    <a:solidFill>
                      <a:srgbClr val="FFFFFF"/>
                    </a:solidFill>
                  </a:tcPr>
                </a:tc>
              </a:tr>
              <a:tr h="475488">
                <a:tc>
                  <a:txBody>
                    <a:bodyPr wrap="square"/>
                    <a:lstStyle/>
                    <a:p>
                      <a:pPr algn="l"/>
                      <a:r>
                        <a:rPr sz="1300" b="0">
                          <a:solidFill>
                            <a:srgbClr val="1D2A33"/>
                          </a:solidFill>
                          <a:latin typeface="Arial"/>
                        </a:rPr>
                        <a:t>Directions</a:t>
                      </a:r>
                    </a:p>
                  </a:txBody>
                  <a:tcPr marL="73152" marR="73152" marT="27432" marB="27432" anchor="ctr">
                    <a:solidFill>
                      <a:srgbClr val="F3F6F7"/>
                    </a:solidFill>
                  </a:tcPr>
                </a:tc>
                <a:tc>
                  <a:txBody>
                    <a:bodyPr wrap="square"/>
                    <a:lstStyle/>
                    <a:p>
                      <a:pPr algn="ctr"/>
                      <a:r>
                        <a:rPr sz="1300" b="0">
                          <a:solidFill>
                            <a:srgbClr val="1D2A33"/>
                          </a:solidFill>
                          <a:latin typeface="Arial"/>
                        </a:rPr>
                        <a:t>sin θ, cos θ (waves and wind)</a:t>
                      </a:r>
                    </a:p>
                  </a:txBody>
                  <a:tcPr marL="73152" marR="73152" marT="27432" marB="27432" anchor="ctr">
                    <a:solidFill>
                      <a:srgbClr val="F3F6F7"/>
                    </a:solidFill>
                  </a:tcPr>
                </a:tc>
                <a:tc>
                  <a:txBody>
                    <a:bodyPr wrap="square"/>
                    <a:lstStyle/>
                    <a:p>
                      <a:pPr algn="ctr"/>
                      <a:r>
                        <a:rPr sz="1300" b="0">
                          <a:solidFill>
                            <a:srgbClr val="1D2A33"/>
                          </a:solidFill>
                          <a:latin typeface="Arial"/>
                        </a:rPr>
                        <a:t>Removes the 359° → 0° jump</a:t>
                      </a:r>
                    </a:p>
                  </a:txBody>
                  <a:tcPr marL="73152" marR="73152" marT="27432" marB="27432" anchor="ctr">
                    <a:solidFill>
                      <a:srgbClr val="F3F6F7"/>
                    </a:solidFill>
                  </a:tcPr>
                </a:tc>
              </a:tr>
              <a:tr h="475488">
                <a:tc>
                  <a:txBody>
                    <a:bodyPr wrap="square"/>
                    <a:lstStyle/>
                    <a:p>
                      <a:pPr algn="l"/>
                      <a:r>
                        <a:rPr sz="1300" b="0">
                          <a:solidFill>
                            <a:srgbClr val="1D2A33"/>
                          </a:solidFill>
                          <a:latin typeface="Arial"/>
                        </a:rPr>
                        <a:t>Wind–wave alignment</a:t>
                      </a:r>
                    </a:p>
                  </a:txBody>
                  <a:tcPr marL="73152" marR="73152" marT="27432" marB="27432" anchor="ctr">
                    <a:solidFill>
                      <a:srgbClr val="FFFFFF"/>
                    </a:solidFill>
                  </a:tcPr>
                </a:tc>
                <a:tc>
                  <a:txBody>
                    <a:bodyPr wrap="square"/>
                    <a:lstStyle/>
                    <a:p>
                      <a:pPr algn="ctr"/>
                      <a:r>
                        <a:rPr sz="1300" b="0">
                          <a:solidFill>
                            <a:srgbClr val="1D2A33"/>
                          </a:solidFill>
                          <a:latin typeface="Arial"/>
                        </a:rPr>
                        <a:t>cos(θwind − θwave)</a:t>
                      </a:r>
                    </a:p>
                  </a:txBody>
                  <a:tcPr marL="73152" marR="73152" marT="27432" marB="27432" anchor="ctr">
                    <a:solidFill>
                      <a:srgbClr val="FFFFFF"/>
                    </a:solidFill>
                  </a:tcPr>
                </a:tc>
                <a:tc>
                  <a:txBody>
                    <a:bodyPr wrap="square"/>
                    <a:lstStyle/>
                    <a:p>
                      <a:pPr algn="ctr"/>
                      <a:r>
                        <a:rPr sz="1300" b="0">
                          <a:solidFill>
                            <a:srgbClr val="1D2A33"/>
                          </a:solidFill>
                          <a:latin typeface="Arial"/>
                        </a:rPr>
                        <a:t>Wind sea (+1) vs crossing swell (≤ 0)</a:t>
                      </a:r>
                    </a:p>
                  </a:txBody>
                  <a:tcPr marL="73152" marR="73152" marT="27432" marB="27432" anchor="ctr">
                    <a:solidFill>
                      <a:srgbClr val="FFFFFF"/>
                    </a:solidFill>
                  </a:tcPr>
                </a:tc>
              </a:tr>
              <a:tr h="475488">
                <a:tc>
                  <a:txBody>
                    <a:bodyPr wrap="square"/>
                    <a:lstStyle/>
                    <a:p>
                      <a:pPr algn="l"/>
                      <a:r>
                        <a:rPr sz="1300" b="0">
                          <a:solidFill>
                            <a:srgbClr val="1D2A33"/>
                          </a:solidFill>
                          <a:latin typeface="Arial"/>
                        </a:rPr>
                        <a:t>Steepness</a:t>
                      </a:r>
                    </a:p>
                  </a:txBody>
                  <a:tcPr marL="73152" marR="73152" marT="27432" marB="27432" anchor="ctr">
                    <a:solidFill>
                      <a:srgbClr val="F3F6F7"/>
                    </a:solidFill>
                  </a:tcPr>
                </a:tc>
                <a:tc>
                  <a:txBody>
                    <a:bodyPr wrap="square"/>
                    <a:lstStyle/>
                    <a:p>
                      <a:pPr algn="ctr"/>
                      <a:r>
                        <a:rPr sz="1300" b="0">
                          <a:solidFill>
                            <a:srgbClr val="1D2A33"/>
                          </a:solidFill>
                          <a:latin typeface="Arial"/>
                        </a:rPr>
                        <a:t>Hs / L0, L0 = gT²/2π</a:t>
                      </a:r>
                    </a:p>
                  </a:txBody>
                  <a:tcPr marL="73152" marR="73152" marT="27432" marB="27432" anchor="ctr">
                    <a:solidFill>
                      <a:srgbClr val="F3F6F7"/>
                    </a:solidFill>
                  </a:tcPr>
                </a:tc>
                <a:tc>
                  <a:txBody>
                    <a:bodyPr wrap="square"/>
                    <a:lstStyle/>
                    <a:p>
                      <a:pPr algn="ctr"/>
                      <a:r>
                        <a:rPr sz="1300" b="0">
                          <a:solidFill>
                            <a:srgbClr val="1D2A33"/>
                          </a:solidFill>
                          <a:latin typeface="Arial"/>
                        </a:rPr>
                        <a:t>Young wind sea vs long swell</a:t>
                      </a:r>
                    </a:p>
                  </a:txBody>
                  <a:tcPr marL="73152" marR="73152" marT="27432" marB="27432" anchor="ctr">
                    <a:solidFill>
                      <a:srgbClr val="F3F6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Direct multi-step: one model per lead time</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Recursive one-step models feed their own errors back; direct models never do</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8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Ben Taieb et al., Expert Systems with Applications 39 (2012)</a:t>
            </a:r>
          </a:p>
        </p:txBody>
      </p:sp>
      <p:sp>
        <p:nvSpPr>
          <p:cNvPr id="7" name="card"/>
          <p:cNvSpPr/>
          <p:nvPr/>
        </p:nvSpPr>
        <p:spPr>
          <a:xfrm>
            <a:off x="548640" y="1600200"/>
            <a:ext cx="5394960" cy="2011680"/>
          </a:xfrm>
          <a:prstGeom prst="roundRect">
            <a:avLst>
              <a:gd name="adj" fmla="val 8181"/>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dge"/>
          <p:cNvSpPr/>
          <p:nvPr/>
        </p:nvSpPr>
        <p:spPr>
          <a:xfrm>
            <a:off x="731520" y="18013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9" name="card heading"/>
          <p:cNvSpPr txBox="1"/>
          <p:nvPr/>
        </p:nvSpPr>
        <p:spPr>
          <a:xfrm>
            <a:off x="1325880" y="175564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Samples</a:t>
            </a:r>
          </a:p>
        </p:txBody>
      </p:sp>
      <p:sp>
        <p:nvSpPr>
          <p:cNvPr id="10" name="card body"/>
          <p:cNvSpPr txBox="1"/>
          <p:nvPr/>
        </p:nvSpPr>
        <p:spPr>
          <a:xfrm>
            <a:off x="1325880" y="2221992"/>
            <a:ext cx="4480560" cy="1280160"/>
          </a:xfrm>
          <a:prstGeom prst="rect">
            <a:avLst/>
          </a:prstGeom>
          <a:noFill/>
        </p:spPr>
        <p:txBody>
          <a:bodyPr wrap="square" lIns="73152" rIns="73152" tIns="73152" bIns="73152" anchor="t">
            <a:spAutoFit/>
          </a:bodyPr>
          <a:lstStyle/>
          <a:p>
            <a:pPr algn="l"/>
            <a:r>
              <a:rPr sz="1400" b="0" i="0">
                <a:solidFill>
                  <a:srgbClr val="1D2A33"/>
                </a:solidFill>
                <a:latin typeface="Arial"/>
              </a:rPr>
              <a:t>Inputs: the last 72 h of Hs and forcing. Targets: Hs(t + 6), (t + 12), (t + 24), (t + 48), (t + 72)</a:t>
            </a:r>
          </a:p>
        </p:txBody>
      </p:sp>
      <p:sp>
        <p:nvSpPr>
          <p:cNvPr id="11" name="card"/>
          <p:cNvSpPr/>
          <p:nvPr/>
        </p:nvSpPr>
        <p:spPr>
          <a:xfrm>
            <a:off x="6217920" y="1600200"/>
            <a:ext cx="5394960" cy="2011680"/>
          </a:xfrm>
          <a:prstGeom prst="roundRect">
            <a:avLst>
              <a:gd name="adj" fmla="val 8181"/>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dge"/>
          <p:cNvSpPr/>
          <p:nvPr/>
        </p:nvSpPr>
        <p:spPr>
          <a:xfrm>
            <a:off x="6400800" y="18013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3" name="card heading"/>
          <p:cNvSpPr txBox="1"/>
          <p:nvPr/>
        </p:nvSpPr>
        <p:spPr>
          <a:xfrm>
            <a:off x="6995159" y="175564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Trees: one model per horizon</a:t>
            </a:r>
          </a:p>
        </p:txBody>
      </p:sp>
      <p:sp>
        <p:nvSpPr>
          <p:cNvPr id="14" name="card body"/>
          <p:cNvSpPr txBox="1"/>
          <p:nvPr/>
        </p:nvSpPr>
        <p:spPr>
          <a:xfrm>
            <a:off x="6995159" y="2221992"/>
            <a:ext cx="4480560" cy="1280160"/>
          </a:xfrm>
          <a:prstGeom prst="rect">
            <a:avLst/>
          </a:prstGeom>
          <a:noFill/>
        </p:spPr>
        <p:txBody>
          <a:bodyPr wrap="square" lIns="73152" rIns="73152" tIns="73152" bIns="73152" anchor="t">
            <a:spAutoFit/>
          </a:bodyPr>
          <a:lstStyle/>
          <a:p>
            <a:pPr algn="l"/>
            <a:r>
              <a:rPr sz="1400" b="0" i="0">
                <a:solidFill>
                  <a:srgbClr val="1D2A33"/>
                </a:solidFill>
                <a:latin typeface="Arial"/>
              </a:rPr>
              <a:t>78 lagged and current features; LightGBM and CatBoost; boosting rounds set by early stopping per horizon</a:t>
            </a:r>
          </a:p>
        </p:txBody>
      </p:sp>
      <p:sp>
        <p:nvSpPr>
          <p:cNvPr id="15" name="card"/>
          <p:cNvSpPr/>
          <p:nvPr/>
        </p:nvSpPr>
        <p:spPr>
          <a:xfrm>
            <a:off x="548640" y="3794760"/>
            <a:ext cx="5394960" cy="2011680"/>
          </a:xfrm>
          <a:prstGeom prst="roundRect">
            <a:avLst>
              <a:gd name="adj" fmla="val 8181"/>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dge"/>
          <p:cNvSpPr/>
          <p:nvPr/>
        </p:nvSpPr>
        <p:spPr>
          <a:xfrm>
            <a:off x="731520" y="399592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17" name="card heading"/>
          <p:cNvSpPr txBox="1"/>
          <p:nvPr/>
        </p:nvSpPr>
        <p:spPr>
          <a:xfrm>
            <a:off x="1325880" y="395020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Bayesian tuning</a:t>
            </a:r>
          </a:p>
        </p:txBody>
      </p:sp>
      <p:sp>
        <p:nvSpPr>
          <p:cNvPr id="18" name="card body"/>
          <p:cNvSpPr txBox="1"/>
          <p:nvPr/>
        </p:nvSpPr>
        <p:spPr>
          <a:xfrm>
            <a:off x="1325880" y="4416552"/>
            <a:ext cx="4480560" cy="1280160"/>
          </a:xfrm>
          <a:prstGeom prst="rect">
            <a:avLst/>
          </a:prstGeom>
          <a:noFill/>
        </p:spPr>
        <p:txBody>
          <a:bodyPr wrap="square" lIns="73152" rIns="73152" tIns="73152" bIns="73152" anchor="t">
            <a:spAutoFit/>
          </a:bodyPr>
          <a:lstStyle/>
          <a:p>
            <a:pPr algn="l"/>
            <a:r>
              <a:rPr sz="1400" b="0" i="0">
                <a:solidFill>
                  <a:srgbClr val="1D2A33"/>
                </a:solidFill>
                <a:latin typeface="Arial"/>
              </a:rPr>
              <a:t>Optuna TPE with median pruning; the objective is the RMSE pooled over the five horizons on 2021–22</a:t>
            </a:r>
          </a:p>
        </p:txBody>
      </p:sp>
      <p:sp>
        <p:nvSpPr>
          <p:cNvPr id="19" name="card"/>
          <p:cNvSpPr/>
          <p:nvPr/>
        </p:nvSpPr>
        <p:spPr>
          <a:xfrm>
            <a:off x="6217920" y="3794760"/>
            <a:ext cx="5394960" cy="2011680"/>
          </a:xfrm>
          <a:prstGeom prst="roundRect">
            <a:avLst>
              <a:gd name="adj" fmla="val 8181"/>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dge"/>
          <p:cNvSpPr/>
          <p:nvPr/>
        </p:nvSpPr>
        <p:spPr>
          <a:xfrm>
            <a:off x="6400800" y="399592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4</a:t>
            </a:r>
          </a:p>
        </p:txBody>
      </p:sp>
      <p:sp>
        <p:nvSpPr>
          <p:cNvPr id="21" name="card heading"/>
          <p:cNvSpPr txBox="1"/>
          <p:nvPr/>
        </p:nvSpPr>
        <p:spPr>
          <a:xfrm>
            <a:off x="6995159" y="395020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Baselines</a:t>
            </a:r>
          </a:p>
        </p:txBody>
      </p:sp>
      <p:sp>
        <p:nvSpPr>
          <p:cNvPr id="22" name="card body"/>
          <p:cNvSpPr txBox="1"/>
          <p:nvPr/>
        </p:nvSpPr>
        <p:spPr>
          <a:xfrm>
            <a:off x="6995159" y="4416552"/>
            <a:ext cx="4480560" cy="1280160"/>
          </a:xfrm>
          <a:prstGeom prst="rect">
            <a:avLst/>
          </a:prstGeom>
          <a:noFill/>
        </p:spPr>
        <p:txBody>
          <a:bodyPr wrap="square" lIns="73152" rIns="73152" tIns="73152" bIns="73152" anchor="t">
            <a:spAutoFit/>
          </a:bodyPr>
          <a:lstStyle/>
          <a:p>
            <a:pPr algn="l"/>
            <a:r>
              <a:rPr sz="1400" b="0" i="0">
                <a:solidFill>
                  <a:srgbClr val="1D2A33"/>
                </a:solidFill>
                <a:latin typeface="Arial"/>
              </a:rPr>
              <a:t>Persistence, day-of-year climatology, and ARIMA(2,1,1) with frozen training parameters, forecast from every origin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Seq2Seq Bi-LSTM with attention</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The decoder sees only what is known at forecast time: the lead time and the season</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9 / 21</a:t>
            </a:r>
          </a:p>
        </p:txBody>
      </p:sp>
      <p:pic>
        <p:nvPicPr>
          <p:cNvPr id="6" name="figure" descr="fig_architecture.png"/>
          <p:cNvPicPr>
            <a:picLocks noChangeAspect="1"/>
          </p:cNvPicPr>
          <p:nvPr/>
        </p:nvPicPr>
        <p:blipFill>
          <a:blip r:embed="rId3"/>
          <a:stretch>
            <a:fillRect/>
          </a:stretch>
        </p:blipFill>
        <p:spPr>
          <a:xfrm>
            <a:off x="2035757" y="1554480"/>
            <a:ext cx="8090005" cy="3840480"/>
          </a:xfrm>
          <a:prstGeom prst="rect">
            <a:avLst/>
          </a:prstGeom>
        </p:spPr>
      </p:pic>
      <p:sp>
        <p:nvSpPr>
          <p:cNvPr id="7" name="arch notes"/>
          <p:cNvSpPr txBox="1"/>
          <p:nvPr/>
        </p:nvSpPr>
        <p:spPr>
          <a:xfrm>
            <a:off x="548640" y="5486400"/>
            <a:ext cx="11064240" cy="731520"/>
          </a:xfrm>
          <a:prstGeom prst="rect">
            <a:avLst/>
          </a:prstGeom>
          <a:noFill/>
        </p:spPr>
        <p:txBody>
          <a:bodyPr wrap="square" lIns="73152" rIns="73152" tIns="73152" bIns="73152" anchor="t">
            <a:spAutoFit/>
          </a:bodyPr>
          <a:lstStyle/>
          <a:p>
            <a:pPr algn="l" marL="274320" indent="-228600">
              <a:buFont typeface="Arial"/>
              <a:buChar char="•"/>
            </a:pPr>
            <a:r>
              <a:rPr sz="1400" b="0" i="0">
                <a:solidFill>
                  <a:srgbClr val="1D2A33"/>
                </a:solidFill>
                <a:latin typeface="Arial"/>
              </a:rPr>
              <a:t>Non-autoregressive decoder: all five horizons in one pass, no prediction fed back, no exposure bias</a:t>
            </a:r>
          </a:p>
          <a:p>
            <a:pPr algn="l" marL="274320" indent="-228600">
              <a:spcBef>
                <a:spcPts val="600"/>
              </a:spcBef>
              <a:buFont typeface="Arial"/>
              <a:buChar char="•"/>
            </a:pPr>
            <a:r>
              <a:rPr sz="1400" b="0" i="0">
                <a:solidFill>
                  <a:srgbClr val="1D2A33"/>
                </a:solidFill>
                <a:latin typeface="Arial"/>
              </a:rPr>
              <a:t>Residual head: forecast = Hs(t) + Δ, so the untrained network starts from persistence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A loss that refuses to miss storms</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Ordinary seas: plain squared error. Extreme seas: errors ×2, under-predictions ×6</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10 / 21</a:t>
            </a:r>
          </a:p>
        </p:txBody>
      </p:sp>
      <p:sp>
        <p:nvSpPr>
          <p:cNvPr id="6" name="equation card"/>
          <p:cNvSpPr/>
          <p:nvPr/>
        </p:nvSpPr>
        <p:spPr>
          <a:xfrm>
            <a:off x="548640" y="1600200"/>
            <a:ext cx="11064240" cy="1371600"/>
          </a:xfrm>
          <a:prstGeom prst="roundRect">
            <a:avLst>
              <a:gd name="adj" fmla="val 12000"/>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quation"/>
          <p:cNvSpPr txBox="1"/>
          <p:nvPr/>
        </p:nvSpPr>
        <p:spPr>
          <a:xfrm>
            <a:off x="822960" y="1737360"/>
            <a:ext cx="10515600" cy="1097280"/>
          </a:xfrm>
          <a:prstGeom prst="rect">
            <a:avLst/>
          </a:prstGeom>
          <a:noFill/>
        </p:spPr>
        <p:txBody>
          <a:bodyPr wrap="square" lIns="73152" rIns="73152" tIns="73152" bIns="73152" anchor="t">
            <a:spAutoFit/>
          </a:bodyPr>
          <a:lstStyle/>
          <a:p>
            <a:pPr algn="ctr"/>
            <a:r>
              <a:rPr sz="2200" b="1" i="0">
                <a:solidFill>
                  <a:srgbClr val="0B2545"/>
                </a:solidFill>
                <a:latin typeface="Arial"/>
              </a:rPr>
              <a:t>L = mean over horizons of [1 + s(y) · (β + γ · 1{y &gt; ŷ})] · (y − ŷ)²</a:t>
            </a:r>
          </a:p>
          <a:p>
            <a:pPr algn="ctr">
              <a:spcBef>
                <a:spcPts val="600"/>
              </a:spcBef>
            </a:pPr>
            <a:r>
              <a:rPr sz="1600" b="0" i="0">
                <a:solidFill>
                  <a:srgbClr val="0B2545"/>
                </a:solidFill>
                <a:latin typeface="Arial"/>
              </a:rPr>
              <a:t>where s(y) = sigmoid((y − q95) / 0.25 m), β = 1 and γ = 4</a:t>
            </a:r>
          </a:p>
        </p:txBody>
      </p:sp>
      <p:sp>
        <p:nvSpPr>
          <p:cNvPr id="8" name="card"/>
          <p:cNvSpPr/>
          <p:nvPr/>
        </p:nvSpPr>
        <p:spPr>
          <a:xfrm>
            <a:off x="548640" y="3200400"/>
            <a:ext cx="3566160" cy="2651760"/>
          </a:xfrm>
          <a:prstGeom prst="roundRect">
            <a:avLst>
              <a:gd name="adj" fmla="val 6206"/>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dge"/>
          <p:cNvSpPr/>
          <p:nvPr/>
        </p:nvSpPr>
        <p:spPr>
          <a:xfrm>
            <a:off x="731520" y="34015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10" name="card heading"/>
          <p:cNvSpPr txBox="1"/>
          <p:nvPr/>
        </p:nvSpPr>
        <p:spPr>
          <a:xfrm>
            <a:off x="1325880" y="3355848"/>
            <a:ext cx="2651760" cy="502920"/>
          </a:xfrm>
          <a:prstGeom prst="rect">
            <a:avLst/>
          </a:prstGeom>
          <a:noFill/>
        </p:spPr>
        <p:txBody>
          <a:bodyPr wrap="square" lIns="73152" rIns="73152" tIns="73152" bIns="73152" anchor="t">
            <a:spAutoFit/>
          </a:bodyPr>
          <a:lstStyle/>
          <a:p>
            <a:pPr algn="l"/>
            <a:r>
              <a:rPr sz="1600" b="1" i="0">
                <a:solidFill>
                  <a:srgbClr val="0B2545"/>
                </a:solidFill>
                <a:latin typeface="Arial"/>
              </a:rPr>
              <a:t>Why</a:t>
            </a:r>
          </a:p>
        </p:txBody>
      </p:sp>
      <p:sp>
        <p:nvSpPr>
          <p:cNvPr id="11" name="card body"/>
          <p:cNvSpPr txBox="1"/>
          <p:nvPr/>
        </p:nvSpPr>
        <p:spPr>
          <a:xfrm>
            <a:off x="1325880" y="3822191"/>
            <a:ext cx="2651760" cy="1920239"/>
          </a:xfrm>
          <a:prstGeom prst="rect">
            <a:avLst/>
          </a:prstGeom>
          <a:noFill/>
        </p:spPr>
        <p:txBody>
          <a:bodyPr wrap="square" lIns="73152" rIns="73152" tIns="73152" bIns="73152" anchor="t">
            <a:spAutoFit/>
          </a:bodyPr>
          <a:lstStyle/>
          <a:p>
            <a:pPr algn="l"/>
            <a:r>
              <a:rPr sz="1400" b="0" i="0">
                <a:solidFill>
                  <a:srgbClr val="1D2A33"/>
                </a:solidFill>
                <a:latin typeface="Arial"/>
              </a:rPr>
              <a:t>Missing a cyclone peak is far costlier than a false alarm for ports and shipping</a:t>
            </a:r>
          </a:p>
        </p:txBody>
      </p:sp>
      <p:sp>
        <p:nvSpPr>
          <p:cNvPr id="12" name="card"/>
          <p:cNvSpPr/>
          <p:nvPr/>
        </p:nvSpPr>
        <p:spPr>
          <a:xfrm>
            <a:off x="4297680" y="3200400"/>
            <a:ext cx="3566160" cy="2651760"/>
          </a:xfrm>
          <a:prstGeom prst="roundRect">
            <a:avLst>
              <a:gd name="adj" fmla="val 6206"/>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dge"/>
          <p:cNvSpPr/>
          <p:nvPr/>
        </p:nvSpPr>
        <p:spPr>
          <a:xfrm>
            <a:off x="4480560" y="34015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4" name="card heading"/>
          <p:cNvSpPr txBox="1"/>
          <p:nvPr/>
        </p:nvSpPr>
        <p:spPr>
          <a:xfrm>
            <a:off x="5074920" y="3355848"/>
            <a:ext cx="2651760" cy="502920"/>
          </a:xfrm>
          <a:prstGeom prst="rect">
            <a:avLst/>
          </a:prstGeom>
          <a:noFill/>
        </p:spPr>
        <p:txBody>
          <a:bodyPr wrap="square" lIns="73152" rIns="73152" tIns="73152" bIns="73152" anchor="t">
            <a:spAutoFit/>
          </a:bodyPr>
          <a:lstStyle/>
          <a:p>
            <a:pPr algn="l"/>
            <a:r>
              <a:rPr sz="1600" b="1" i="0">
                <a:solidFill>
                  <a:srgbClr val="0B2545"/>
                </a:solidFill>
                <a:latin typeface="Arial"/>
              </a:rPr>
              <a:t>How it is smooth</a:t>
            </a:r>
          </a:p>
        </p:txBody>
      </p:sp>
      <p:sp>
        <p:nvSpPr>
          <p:cNvPr id="15" name="card body"/>
          <p:cNvSpPr txBox="1"/>
          <p:nvPr/>
        </p:nvSpPr>
        <p:spPr>
          <a:xfrm>
            <a:off x="5074920" y="3822191"/>
            <a:ext cx="2651760" cy="1920239"/>
          </a:xfrm>
          <a:prstGeom prst="rect">
            <a:avLst/>
          </a:prstGeom>
          <a:noFill/>
        </p:spPr>
        <p:txBody>
          <a:bodyPr wrap="square" lIns="73152" rIns="73152" tIns="73152" bIns="73152" anchor="t">
            <a:spAutoFit/>
          </a:bodyPr>
          <a:lstStyle/>
          <a:p>
            <a:pPr algn="l"/>
            <a:r>
              <a:rPr sz="1400" b="0" i="0">
                <a:solidFill>
                  <a:srgbClr val="1D2A33"/>
                </a:solidFill>
                <a:latin typeface="Arial"/>
              </a:rPr>
              <a:t>The sigmoid makes the weight continuous in y, and the loss stays continuous at y = ŷ</a:t>
            </a:r>
          </a:p>
        </p:txBody>
      </p:sp>
      <p:sp>
        <p:nvSpPr>
          <p:cNvPr id="16" name="card"/>
          <p:cNvSpPr/>
          <p:nvPr/>
        </p:nvSpPr>
        <p:spPr>
          <a:xfrm>
            <a:off x="8046720" y="3200400"/>
            <a:ext cx="3566160" cy="2651760"/>
          </a:xfrm>
          <a:prstGeom prst="roundRect">
            <a:avLst>
              <a:gd name="adj" fmla="val 6206"/>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dge"/>
          <p:cNvSpPr/>
          <p:nvPr/>
        </p:nvSpPr>
        <p:spPr>
          <a:xfrm>
            <a:off x="8229600" y="34015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18" name="card heading"/>
          <p:cNvSpPr txBox="1"/>
          <p:nvPr/>
        </p:nvSpPr>
        <p:spPr>
          <a:xfrm>
            <a:off x="8823960" y="3355848"/>
            <a:ext cx="2651760" cy="502920"/>
          </a:xfrm>
          <a:prstGeom prst="rect">
            <a:avLst/>
          </a:prstGeom>
          <a:noFill/>
        </p:spPr>
        <p:txBody>
          <a:bodyPr wrap="square" lIns="73152" rIns="73152" tIns="73152" bIns="73152" anchor="t">
            <a:spAutoFit/>
          </a:bodyPr>
          <a:lstStyle/>
          <a:p>
            <a:pPr algn="l"/>
            <a:r>
              <a:rPr sz="1600" b="1" i="0">
                <a:solidFill>
                  <a:srgbClr val="0B2545"/>
                </a:solidFill>
                <a:latin typeface="Arial"/>
              </a:rPr>
              <a:t>How it is tested</a:t>
            </a:r>
          </a:p>
        </p:txBody>
      </p:sp>
      <p:sp>
        <p:nvSpPr>
          <p:cNvPr id="19" name="card body"/>
          <p:cNvSpPr txBox="1"/>
          <p:nvPr/>
        </p:nvSpPr>
        <p:spPr>
          <a:xfrm>
            <a:off x="8823960" y="3822191"/>
            <a:ext cx="2651760" cy="1920239"/>
          </a:xfrm>
          <a:prstGeom prst="rect">
            <a:avLst/>
          </a:prstGeom>
          <a:noFill/>
        </p:spPr>
        <p:txBody>
          <a:bodyPr wrap="square" lIns="73152" rIns="73152" tIns="73152" bIns="73152" anchor="t">
            <a:spAutoFit/>
          </a:bodyPr>
          <a:lstStyle/>
          <a:p>
            <a:pPr algn="l"/>
            <a:r>
              <a:rPr sz="1400" b="0" i="0">
                <a:solidFill>
                  <a:srgbClr val="1D2A33"/>
                </a:solidFill>
                <a:latin typeface="Arial"/>
              </a:rPr>
              <a:t>An identical network trained with MSE isolates the effect of the loss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Trees beat persistence: −18% at 24 h, −23% at 72 h</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RMSE grows with lead time for every model; the gap to the baselines widens with it</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11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Test period 2023–2024, unseen in training, early stopping and tuning; target ERA5 Hs at the buoy positions</a:t>
            </a:r>
          </a:p>
        </p:txBody>
      </p:sp>
      <p:pic>
        <p:nvPicPr>
          <p:cNvPr id="7" name="figure" descr="fig_rmse_horizon.png"/>
          <p:cNvPicPr>
            <a:picLocks noChangeAspect="1"/>
          </p:cNvPicPr>
          <p:nvPr/>
        </p:nvPicPr>
        <p:blipFill>
          <a:blip r:embed="rId3"/>
          <a:stretch>
            <a:fillRect/>
          </a:stretch>
        </p:blipFill>
        <p:spPr>
          <a:xfrm>
            <a:off x="548640" y="1581570"/>
            <a:ext cx="7863840" cy="3237659"/>
          </a:xfrm>
          <a:prstGeom prst="rect">
            <a:avLst/>
          </a:prstGeom>
        </p:spPr>
      </p:pic>
      <p:sp>
        <p:nvSpPr>
          <p:cNvPr id="8" name="stat card"/>
          <p:cNvSpPr/>
          <p:nvPr/>
        </p:nvSpPr>
        <p:spPr>
          <a:xfrm>
            <a:off x="8732520" y="1645920"/>
            <a:ext cx="2880360" cy="1554480"/>
          </a:xfrm>
          <a:prstGeom prst="roundRect">
            <a:avLst>
              <a:gd name="adj" fmla="val 10588"/>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value"/>
          <p:cNvSpPr txBox="1"/>
          <p:nvPr/>
        </p:nvSpPr>
        <p:spPr>
          <a:xfrm>
            <a:off x="8869680" y="1719072"/>
            <a:ext cx="2606040" cy="841248"/>
          </a:xfrm>
          <a:prstGeom prst="rect">
            <a:avLst/>
          </a:prstGeom>
          <a:noFill/>
        </p:spPr>
        <p:txBody>
          <a:bodyPr wrap="square" lIns="73152" rIns="73152" tIns="73152" bIns="73152" anchor="t">
            <a:spAutoFit/>
          </a:bodyPr>
          <a:lstStyle/>
          <a:p>
            <a:pPr algn="l"/>
            <a:r>
              <a:rPr sz="4000" b="1" i="0">
                <a:solidFill>
                  <a:srgbClr val="1B7F8C"/>
                </a:solidFill>
                <a:latin typeface="Arial"/>
              </a:rPr>
              <a:t>0.25 m</a:t>
            </a:r>
          </a:p>
        </p:txBody>
      </p:sp>
      <p:sp>
        <p:nvSpPr>
          <p:cNvPr id="10" name="stat label"/>
          <p:cNvSpPr txBox="1"/>
          <p:nvPr/>
        </p:nvSpPr>
        <p:spPr>
          <a:xfrm>
            <a:off x="8869680" y="2487168"/>
            <a:ext cx="2606040" cy="667512"/>
          </a:xfrm>
          <a:prstGeom prst="rect">
            <a:avLst/>
          </a:prstGeom>
          <a:noFill/>
        </p:spPr>
        <p:txBody>
          <a:bodyPr wrap="square" lIns="73152" rIns="73152" tIns="73152" bIns="73152" anchor="t">
            <a:spAutoFit/>
          </a:bodyPr>
          <a:lstStyle/>
          <a:p>
            <a:pPr algn="l"/>
            <a:r>
              <a:rPr sz="1300" b="0" i="0">
                <a:solidFill>
                  <a:srgbClr val="1D2A33"/>
                </a:solidFill>
                <a:latin typeface="Arial"/>
              </a:rPr>
              <a:t>Best RMSE at 24 h (CatBoost), mean of 3 sites</a:t>
            </a:r>
          </a:p>
        </p:txBody>
      </p:sp>
      <p:sp>
        <p:nvSpPr>
          <p:cNvPr id="11" name="stat card"/>
          <p:cNvSpPr/>
          <p:nvPr/>
        </p:nvSpPr>
        <p:spPr>
          <a:xfrm>
            <a:off x="8732520" y="3383280"/>
            <a:ext cx="2880360" cy="1554480"/>
          </a:xfrm>
          <a:prstGeom prst="roundRect">
            <a:avLst>
              <a:gd name="adj" fmla="val 10588"/>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value"/>
          <p:cNvSpPr txBox="1"/>
          <p:nvPr/>
        </p:nvSpPr>
        <p:spPr>
          <a:xfrm>
            <a:off x="8869680" y="3456432"/>
            <a:ext cx="2606040" cy="841248"/>
          </a:xfrm>
          <a:prstGeom prst="rect">
            <a:avLst/>
          </a:prstGeom>
          <a:noFill/>
        </p:spPr>
        <p:txBody>
          <a:bodyPr wrap="square" lIns="73152" rIns="73152" tIns="73152" bIns="73152" anchor="t">
            <a:spAutoFit/>
          </a:bodyPr>
          <a:lstStyle/>
          <a:p>
            <a:pPr algn="l"/>
            <a:r>
              <a:rPr sz="4000" b="1" i="0">
                <a:solidFill>
                  <a:srgbClr val="E8A33D"/>
                </a:solidFill>
                <a:latin typeface="Arial"/>
              </a:rPr>
              <a:t>0.42 m</a:t>
            </a:r>
          </a:p>
        </p:txBody>
      </p:sp>
      <p:sp>
        <p:nvSpPr>
          <p:cNvPr id="13" name="stat label"/>
          <p:cNvSpPr txBox="1"/>
          <p:nvPr/>
        </p:nvSpPr>
        <p:spPr>
          <a:xfrm>
            <a:off x="8869680" y="4224528"/>
            <a:ext cx="2606040" cy="667512"/>
          </a:xfrm>
          <a:prstGeom prst="rect">
            <a:avLst/>
          </a:prstGeom>
          <a:noFill/>
        </p:spPr>
        <p:txBody>
          <a:bodyPr wrap="square" lIns="73152" rIns="73152" tIns="73152" bIns="73152" anchor="t">
            <a:spAutoFit/>
          </a:bodyPr>
          <a:lstStyle/>
          <a:p>
            <a:pPr algn="l"/>
            <a:r>
              <a:rPr sz="1300" b="0" i="0">
                <a:solidFill>
                  <a:srgbClr val="1D2A33"/>
                </a:solidFill>
                <a:latin typeface="Arial"/>
              </a:rPr>
              <a:t>Best RMSE at 72 h (LightGBM)</a:t>
            </a:r>
          </a:p>
        </p:txBody>
      </p:sp>
      <p:sp>
        <p:nvSpPr>
          <p:cNvPr id="14" name="results notes"/>
          <p:cNvSpPr txBox="1"/>
          <p:nvPr/>
        </p:nvSpPr>
        <p:spPr>
          <a:xfrm>
            <a:off x="548640" y="5029200"/>
            <a:ext cx="11064240" cy="1188720"/>
          </a:xfrm>
          <a:prstGeom prst="rect">
            <a:avLst/>
          </a:prstGeom>
          <a:noFill/>
        </p:spPr>
        <p:txBody>
          <a:bodyPr wrap="square" lIns="73152" rIns="73152" tIns="73152" bIns="73152" anchor="t">
            <a:spAutoFit/>
          </a:bodyPr>
          <a:lstStyle/>
          <a:p>
            <a:pPr algn="l" marL="274320" indent="-228600">
              <a:buFont typeface="Arial"/>
              <a:buChar char="•"/>
            </a:pPr>
            <a:r>
              <a:rPr sz="1400" b="0" i="0">
                <a:solidFill>
                  <a:srgbClr val="1D2A33"/>
                </a:solidFill>
                <a:latin typeface="Arial"/>
              </a:rPr>
              <a:t>Persistence: 0.30 m at 24 h, 0.54 m at 72 h; ARIMA improves on it only at short lead times</a:t>
            </a:r>
          </a:p>
          <a:p>
            <a:pPr algn="l" marL="274320" indent="-228600">
              <a:spcBef>
                <a:spcPts val="600"/>
              </a:spcBef>
              <a:buFont typeface="Arial"/>
              <a:buChar char="•"/>
            </a:pPr>
            <a:r>
              <a:rPr sz="1400" b="0" i="0">
                <a:solidFill>
                  <a:srgbClr val="1D2A33"/>
                </a:solidFill>
                <a:latin typeface="Arial"/>
              </a:rPr>
              <a:t>All models scored on the same 17,400+ forecast origins per site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ARIMA, trees and LSTM at 24 h and 72 h</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Gradient boosting and the Seq2Seq LSTM are close; both are well ahead of ARIMA</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12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Test period 2023–2024, unseen in training, early stopping and tuning; target ERA5 Hs at the buoy positions</a:t>
            </a:r>
          </a:p>
        </p:txBody>
      </p:sp>
      <p:pic>
        <p:nvPicPr>
          <p:cNvPr id="7" name="figure" descr="fig_rmse_bars.png"/>
          <p:cNvPicPr>
            <a:picLocks noChangeAspect="1"/>
          </p:cNvPicPr>
          <p:nvPr/>
        </p:nvPicPr>
        <p:blipFill>
          <a:blip r:embed="rId3"/>
          <a:stretch>
            <a:fillRect/>
          </a:stretch>
        </p:blipFill>
        <p:spPr>
          <a:xfrm>
            <a:off x="967291" y="1554480"/>
            <a:ext cx="10226936" cy="42062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Skill rises with lead time</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SS = 1 − RMSE / RMSE(persistence): the further ahead, the more the forcing adds</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13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Test period 2023–2024, unseen in training, early stopping and tuning; target ERA5 Hs at the buoy positions</a:t>
            </a:r>
          </a:p>
        </p:txBody>
      </p:sp>
      <p:pic>
        <p:nvPicPr>
          <p:cNvPr id="7" name="figure" descr="fig_skill_horizon.png"/>
          <p:cNvPicPr>
            <a:picLocks noChangeAspect="1"/>
          </p:cNvPicPr>
          <p:nvPr/>
        </p:nvPicPr>
        <p:blipFill>
          <a:blip r:embed="rId3"/>
          <a:stretch>
            <a:fillRect/>
          </a:stretch>
        </p:blipFill>
        <p:spPr>
          <a:xfrm>
            <a:off x="861515" y="1554480"/>
            <a:ext cx="10438488" cy="42976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A month of forecasts against ERA5</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At 24 h the models track each event; at 72 h they keep the level but damp short events</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14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Test period 2023–2024, unseen in training, early stopping and tuning; target ERA5 Hs at the buoy positions</a:t>
            </a:r>
          </a:p>
        </p:txBody>
      </p:sp>
      <p:pic>
        <p:nvPicPr>
          <p:cNvPr id="7" name="figure" descr="fig_timeline_BD08.png"/>
          <p:cNvPicPr>
            <a:picLocks noChangeAspect="1"/>
          </p:cNvPicPr>
          <p:nvPr/>
        </p:nvPicPr>
        <p:blipFill>
          <a:blip r:embed="rId3"/>
          <a:stretch>
            <a:fillRect/>
          </a:stretch>
        </p:blipFill>
        <p:spPr>
          <a:xfrm>
            <a:off x="2572132" y="1508760"/>
            <a:ext cx="7017254" cy="47548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Cyclone Mocha: peak 6.2 m at BD08</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24 h ahead the rise and timing are captured; 72 h ahead no model sees the storm coming</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15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Test period 2023–2024, unseen in training, early stopping and tuning; target ERA5 Hs at the buoy positions</a:t>
            </a:r>
          </a:p>
        </p:txBody>
      </p:sp>
      <p:pic>
        <p:nvPicPr>
          <p:cNvPr id="7" name="figure" descr="fig_cyclone_BD08.png"/>
          <p:cNvPicPr>
            <a:picLocks noChangeAspect="1"/>
          </p:cNvPicPr>
          <p:nvPr/>
        </p:nvPicPr>
        <p:blipFill>
          <a:blip r:embed="rId3"/>
          <a:stretch>
            <a:fillRect/>
          </a:stretch>
        </p:blipFill>
        <p:spPr>
          <a:xfrm>
            <a:off x="2556200" y="1508760"/>
            <a:ext cx="7049118" cy="47548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The peak-weighted loss misses fewer storms</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Under-predicted extremes at 24 h: 72% → 55%; overall RMSE +14%</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16 / 21</a:t>
            </a:r>
          </a:p>
        </p:txBody>
      </p:sp>
      <p:sp>
        <p:nvSpPr>
          <p:cNvPr id="6" name="source"/>
          <p:cNvSpPr txBox="1"/>
          <p:nvPr/>
        </p:nvSpPr>
        <p:spPr>
          <a:xfrm>
            <a:off x="548640" y="6355080"/>
            <a:ext cx="9875520" cy="320040"/>
          </a:xfrm>
          <a:prstGeom prst="rect">
            <a:avLst/>
          </a:prstGeom>
          <a:noFill/>
        </p:spPr>
        <p:txBody>
          <a:bodyPr wrap="square" lIns="73152" rIns="73152" tIns="73152" bIns="73152" anchor="t">
            <a:spAutoFit/>
          </a:bodyPr>
          <a:lstStyle/>
          <a:p>
            <a:pPr algn="l"/>
            <a:r>
              <a:rPr sz="1000" b="0" i="0">
                <a:solidFill>
                  <a:srgbClr val="5B6770"/>
                </a:solidFill>
                <a:latin typeface="Arial"/>
              </a:rPr>
              <a:t>Extreme subset: observed Hs ≥ training 95th percentile, all sites pooled</a:t>
            </a:r>
          </a:p>
        </p:txBody>
      </p:sp>
      <p:pic>
        <p:nvPicPr>
          <p:cNvPr id="7" name="figure" descr="fig_peak_bias.png"/>
          <p:cNvPicPr>
            <a:picLocks noChangeAspect="1"/>
          </p:cNvPicPr>
          <p:nvPr/>
        </p:nvPicPr>
        <p:blipFill>
          <a:blip r:embed="rId3"/>
          <a:stretch>
            <a:fillRect/>
          </a:stretch>
        </p:blipFill>
        <p:spPr>
          <a:xfrm>
            <a:off x="827751" y="1554480"/>
            <a:ext cx="7122736" cy="3291840"/>
          </a:xfrm>
          <a:prstGeom prst="rect">
            <a:avLst/>
          </a:prstGeom>
        </p:spPr>
      </p:pic>
      <p:sp>
        <p:nvSpPr>
          <p:cNvPr id="8" name="stat card"/>
          <p:cNvSpPr/>
          <p:nvPr/>
        </p:nvSpPr>
        <p:spPr>
          <a:xfrm>
            <a:off x="8595360" y="1645920"/>
            <a:ext cx="3017520" cy="1554480"/>
          </a:xfrm>
          <a:prstGeom prst="roundRect">
            <a:avLst>
              <a:gd name="adj" fmla="val 10588"/>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value"/>
          <p:cNvSpPr txBox="1"/>
          <p:nvPr/>
        </p:nvSpPr>
        <p:spPr>
          <a:xfrm>
            <a:off x="8732520" y="1719072"/>
            <a:ext cx="2743200" cy="841248"/>
          </a:xfrm>
          <a:prstGeom prst="rect">
            <a:avLst/>
          </a:prstGeom>
          <a:noFill/>
        </p:spPr>
        <p:txBody>
          <a:bodyPr wrap="square" lIns="73152" rIns="73152" tIns="73152" bIns="73152" anchor="t">
            <a:spAutoFit/>
          </a:bodyPr>
          <a:lstStyle/>
          <a:p>
            <a:pPr algn="l"/>
            <a:r>
              <a:rPr sz="4000" b="1" i="0">
                <a:solidFill>
                  <a:srgbClr val="1B7F8C"/>
                </a:solidFill>
                <a:latin typeface="Arial"/>
              </a:rPr>
              <a:t>55%</a:t>
            </a:r>
          </a:p>
        </p:txBody>
      </p:sp>
      <p:sp>
        <p:nvSpPr>
          <p:cNvPr id="10" name="stat label"/>
          <p:cNvSpPr txBox="1"/>
          <p:nvPr/>
        </p:nvSpPr>
        <p:spPr>
          <a:xfrm>
            <a:off x="8732520" y="2487168"/>
            <a:ext cx="2743200" cy="667512"/>
          </a:xfrm>
          <a:prstGeom prst="rect">
            <a:avLst/>
          </a:prstGeom>
          <a:noFill/>
        </p:spPr>
        <p:txBody>
          <a:bodyPr wrap="square" lIns="73152" rIns="73152" tIns="73152" bIns="73152" anchor="t">
            <a:spAutoFit/>
          </a:bodyPr>
          <a:lstStyle/>
          <a:p>
            <a:pPr algn="l"/>
            <a:r>
              <a:rPr sz="1300" b="0" i="0">
                <a:solidFill>
                  <a:srgbClr val="1D2A33"/>
                </a:solidFill>
                <a:latin typeface="Arial"/>
              </a:rPr>
              <a:t>of extremes under-predicted at 24 h with the peak loss</a:t>
            </a:r>
          </a:p>
        </p:txBody>
      </p:sp>
      <p:sp>
        <p:nvSpPr>
          <p:cNvPr id="11" name="stat card"/>
          <p:cNvSpPr/>
          <p:nvPr/>
        </p:nvSpPr>
        <p:spPr>
          <a:xfrm>
            <a:off x="8595360" y="3383280"/>
            <a:ext cx="3017520" cy="1554480"/>
          </a:xfrm>
          <a:prstGeom prst="roundRect">
            <a:avLst>
              <a:gd name="adj" fmla="val 10588"/>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value"/>
          <p:cNvSpPr txBox="1"/>
          <p:nvPr/>
        </p:nvSpPr>
        <p:spPr>
          <a:xfrm>
            <a:off x="8732520" y="3456432"/>
            <a:ext cx="2743200" cy="841248"/>
          </a:xfrm>
          <a:prstGeom prst="rect">
            <a:avLst/>
          </a:prstGeom>
          <a:noFill/>
        </p:spPr>
        <p:txBody>
          <a:bodyPr wrap="square" lIns="73152" rIns="73152" tIns="73152" bIns="73152" anchor="t">
            <a:spAutoFit/>
          </a:bodyPr>
          <a:lstStyle/>
          <a:p>
            <a:pPr algn="l"/>
            <a:r>
              <a:rPr sz="4000" b="1" i="0">
                <a:solidFill>
                  <a:srgbClr val="E8A33D"/>
                </a:solidFill>
                <a:latin typeface="Arial"/>
              </a:rPr>
              <a:t>72%</a:t>
            </a:r>
          </a:p>
        </p:txBody>
      </p:sp>
      <p:sp>
        <p:nvSpPr>
          <p:cNvPr id="13" name="stat label"/>
          <p:cNvSpPr txBox="1"/>
          <p:nvPr/>
        </p:nvSpPr>
        <p:spPr>
          <a:xfrm>
            <a:off x="8732520" y="4224528"/>
            <a:ext cx="2743200" cy="667512"/>
          </a:xfrm>
          <a:prstGeom prst="rect">
            <a:avLst/>
          </a:prstGeom>
          <a:noFill/>
        </p:spPr>
        <p:txBody>
          <a:bodyPr wrap="square" lIns="73152" rIns="73152" tIns="73152" bIns="73152" anchor="t">
            <a:spAutoFit/>
          </a:bodyPr>
          <a:lstStyle/>
          <a:p>
            <a:pPr algn="l"/>
            <a:r>
              <a:rPr sz="1300" b="0" i="0">
                <a:solidFill>
                  <a:srgbClr val="1D2A33"/>
                </a:solidFill>
                <a:latin typeface="Arial"/>
              </a:rPr>
              <a:t>with the MSE loss</a:t>
            </a:r>
          </a:p>
        </p:txBody>
      </p:sp>
      <p:sp>
        <p:nvSpPr>
          <p:cNvPr id="14" name="peak notes"/>
          <p:cNvSpPr txBox="1"/>
          <p:nvPr/>
        </p:nvSpPr>
        <p:spPr>
          <a:xfrm>
            <a:off x="548640" y="5029200"/>
            <a:ext cx="11064240" cy="1188720"/>
          </a:xfrm>
          <a:prstGeom prst="rect">
            <a:avLst/>
          </a:prstGeom>
          <a:noFill/>
        </p:spPr>
        <p:txBody>
          <a:bodyPr wrap="square" lIns="73152" rIns="73152" tIns="73152" bIns="73152" anchor="t">
            <a:spAutoFit/>
          </a:bodyPr>
          <a:lstStyle/>
          <a:p>
            <a:pPr algn="l" marL="274320" indent="-228600">
              <a:buFont typeface="Arial"/>
              <a:buChar char="•"/>
            </a:pPr>
            <a:r>
              <a:rPr sz="1400" b="0" i="0">
                <a:solidFill>
                  <a:srgbClr val="1D2A33"/>
                </a:solidFill>
                <a:latin typeface="Arial"/>
              </a:rPr>
              <a:t>Lowest RMSE of all models on extreme seas, and mean error within ±0.07 m inside cyclone windows</a:t>
            </a:r>
          </a:p>
          <a:p>
            <a:pPr algn="l" marL="274320" indent="-228600">
              <a:spcBef>
                <a:spcPts val="600"/>
              </a:spcBef>
              <a:buFont typeface="Arial"/>
              <a:buChar char="•"/>
            </a:pPr>
            <a:r>
              <a:rPr sz="1400" b="0" i="0">
                <a:solidFill>
                  <a:srgbClr val="1D2A33"/>
                </a:solidFill>
                <a:latin typeface="Arial"/>
              </a:rPr>
              <a:t>Trade-off by design: higher overall RMSE, fewer missed peaks; choose the loss by the application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What the trees learned is physically sensible</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6 h: the last three hours of Hs. 72 h: season, SST and pressure, i.e. a state-aware climatology</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17 / 21</a:t>
            </a:r>
          </a:p>
        </p:txBody>
      </p:sp>
      <p:pic>
        <p:nvPicPr>
          <p:cNvPr id="6" name="figure" descr="fig_importance.png"/>
          <p:cNvPicPr>
            <a:picLocks noChangeAspect="1"/>
          </p:cNvPicPr>
          <p:nvPr/>
        </p:nvPicPr>
        <p:blipFill>
          <a:blip r:embed="rId3"/>
          <a:stretch>
            <a:fillRect/>
          </a:stretch>
        </p:blipFill>
        <p:spPr>
          <a:xfrm>
            <a:off x="548640" y="1772972"/>
            <a:ext cx="6766560" cy="4226454"/>
          </a:xfrm>
          <a:prstGeom prst="rect">
            <a:avLst/>
          </a:prstGeom>
        </p:spPr>
      </p:pic>
      <p:sp>
        <p:nvSpPr>
          <p:cNvPr id="7" name="physics card"/>
          <p:cNvSpPr/>
          <p:nvPr/>
        </p:nvSpPr>
        <p:spPr>
          <a:xfrm>
            <a:off x="7680960" y="1600200"/>
            <a:ext cx="3931920" cy="4617720"/>
          </a:xfrm>
          <a:prstGeom prst="roundRect">
            <a:avLst>
              <a:gd name="adj" fmla="val 4186"/>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hysics heading"/>
          <p:cNvSpPr txBox="1"/>
          <p:nvPr/>
        </p:nvSpPr>
        <p:spPr>
          <a:xfrm>
            <a:off x="7909560" y="1737360"/>
            <a:ext cx="3566160" cy="457200"/>
          </a:xfrm>
          <a:prstGeom prst="rect">
            <a:avLst/>
          </a:prstGeom>
          <a:noFill/>
        </p:spPr>
        <p:txBody>
          <a:bodyPr wrap="square" lIns="73152" rIns="73152" tIns="73152" bIns="73152" anchor="t">
            <a:spAutoFit/>
          </a:bodyPr>
          <a:lstStyle/>
          <a:p>
            <a:pPr algn="l"/>
            <a:r>
              <a:rPr sz="1800" b="1" i="0">
                <a:solidFill>
                  <a:srgbClr val="0B2545"/>
                </a:solidFill>
                <a:latin typeface="Georgia"/>
              </a:rPr>
              <a:t>Reading the chart</a:t>
            </a:r>
          </a:p>
        </p:txBody>
      </p:sp>
      <p:sp>
        <p:nvSpPr>
          <p:cNvPr id="9" name="physics text"/>
          <p:cNvSpPr txBox="1"/>
          <p:nvPr/>
        </p:nvSpPr>
        <p:spPr>
          <a:xfrm>
            <a:off x="7909560" y="2240280"/>
            <a:ext cx="3566160" cy="3931920"/>
          </a:xfrm>
          <a:prstGeom prst="rect">
            <a:avLst/>
          </a:prstGeom>
          <a:noFill/>
        </p:spPr>
        <p:txBody>
          <a:bodyPr wrap="square" lIns="73152" rIns="73152" tIns="73152" bIns="73152" anchor="t">
            <a:spAutoFit/>
          </a:bodyPr>
          <a:lstStyle/>
          <a:p>
            <a:pPr algn="l" marL="274320" indent="-228600">
              <a:buFont typeface="Arial"/>
              <a:buChar char="•"/>
            </a:pPr>
            <a:r>
              <a:rPr sz="1400" b="0" i="0">
                <a:solidFill>
                  <a:srgbClr val="1D2A33"/>
                </a:solidFill>
                <a:latin typeface="Arial"/>
              </a:rPr>
              <a:t>Short range = persistence plus a growth or decay correction</a:t>
            </a:r>
          </a:p>
          <a:p>
            <a:pPr algn="l" marL="274320" indent="-228600">
              <a:spcBef>
                <a:spcPts val="1000"/>
              </a:spcBef>
              <a:buFont typeface="Arial"/>
              <a:buChar char="•"/>
            </a:pPr>
            <a:r>
              <a:rPr sz="1400" b="0" i="0">
                <a:solidFill>
                  <a:srgbClr val="1D2A33"/>
                </a:solidFill>
                <a:latin typeface="Arial"/>
              </a:rPr>
              <a:t>Long range = the slow large-scale state: monsoon phase, SST, pressure level</a:t>
            </a:r>
          </a:p>
          <a:p>
            <a:pPr algn="l" marL="274320" indent="-228600">
              <a:spcBef>
                <a:spcPts val="1000"/>
              </a:spcBef>
              <a:buFont typeface="Arial"/>
              <a:buChar char="•"/>
            </a:pPr>
            <a:r>
              <a:rPr sz="1400" b="0" i="0">
                <a:solidFill>
                  <a:srgbClr val="1D2A33"/>
                </a:solidFill>
                <a:latin typeface="Arial"/>
              </a:rPr>
              <a:t>The 24 h pressure tendency is the one fast signal that still counts at 72 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Trees or LSTM?</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Similar accuracy here; each has a role</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18 / 21</a:t>
            </a:r>
          </a:p>
        </p:txBody>
      </p:sp>
      <p:sp>
        <p:nvSpPr>
          <p:cNvPr id="6" name="card"/>
          <p:cNvSpPr/>
          <p:nvPr/>
        </p:nvSpPr>
        <p:spPr>
          <a:xfrm>
            <a:off x="548640" y="1600200"/>
            <a:ext cx="5394960" cy="2194560"/>
          </a:xfrm>
          <a:prstGeom prst="roundRect">
            <a:avLst>
              <a:gd name="adj" fmla="val 7500"/>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dge"/>
          <p:cNvSpPr/>
          <p:nvPr/>
        </p:nvSpPr>
        <p:spPr>
          <a:xfrm>
            <a:off x="731520" y="18013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8" name="card heading"/>
          <p:cNvSpPr txBox="1"/>
          <p:nvPr/>
        </p:nvSpPr>
        <p:spPr>
          <a:xfrm>
            <a:off x="1325880" y="175564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Gradient boosting</a:t>
            </a:r>
          </a:p>
        </p:txBody>
      </p:sp>
      <p:sp>
        <p:nvSpPr>
          <p:cNvPr id="9" name="card body"/>
          <p:cNvSpPr txBox="1"/>
          <p:nvPr/>
        </p:nvSpPr>
        <p:spPr>
          <a:xfrm>
            <a:off x="1325880" y="2221992"/>
            <a:ext cx="4480560" cy="1463039"/>
          </a:xfrm>
          <a:prstGeom prst="rect">
            <a:avLst/>
          </a:prstGeom>
          <a:noFill/>
        </p:spPr>
        <p:txBody>
          <a:bodyPr wrap="square" lIns="73152" rIns="73152" tIns="73152" bIns="73152" anchor="t">
            <a:spAutoFit/>
          </a:bodyPr>
          <a:lstStyle/>
          <a:p>
            <a:pPr algn="l"/>
            <a:r>
              <a:rPr sz="1400" b="0" i="0">
                <a:solidFill>
                  <a:srgbClr val="1D2A33"/>
                </a:solidFill>
                <a:latin typeface="Arial"/>
              </a:rPr>
              <a:t>78 engineered inputs, tuned, fast to train on a CPU, easy to explain; one model per lead time</a:t>
            </a:r>
          </a:p>
        </p:txBody>
      </p:sp>
      <p:sp>
        <p:nvSpPr>
          <p:cNvPr id="10" name="card"/>
          <p:cNvSpPr/>
          <p:nvPr/>
        </p:nvSpPr>
        <p:spPr>
          <a:xfrm>
            <a:off x="6217920" y="1600200"/>
            <a:ext cx="5394960" cy="2194560"/>
          </a:xfrm>
          <a:prstGeom prst="roundRect">
            <a:avLst>
              <a:gd name="adj" fmla="val 7500"/>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dge"/>
          <p:cNvSpPr/>
          <p:nvPr/>
        </p:nvSpPr>
        <p:spPr>
          <a:xfrm>
            <a:off x="6400800" y="1801368"/>
            <a:ext cx="457200" cy="457200"/>
          </a:xfrm>
          <a:prstGeom prst="ellipse">
            <a:avLst/>
          </a:prstGeom>
          <a:solidFill>
            <a:srgbClr val="1B7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2" name="card heading"/>
          <p:cNvSpPr txBox="1"/>
          <p:nvPr/>
        </p:nvSpPr>
        <p:spPr>
          <a:xfrm>
            <a:off x="6995159" y="1755648"/>
            <a:ext cx="4480560" cy="502920"/>
          </a:xfrm>
          <a:prstGeom prst="rect">
            <a:avLst/>
          </a:prstGeom>
          <a:noFill/>
        </p:spPr>
        <p:txBody>
          <a:bodyPr wrap="square" lIns="73152" rIns="73152" tIns="73152" bIns="73152" anchor="t">
            <a:spAutoFit/>
          </a:bodyPr>
          <a:lstStyle/>
          <a:p>
            <a:pPr algn="l"/>
            <a:r>
              <a:rPr sz="1600" b="1" i="0">
                <a:solidFill>
                  <a:srgbClr val="0B2545"/>
                </a:solidFill>
                <a:latin typeface="Arial"/>
              </a:rPr>
              <a:t>Seq2Seq LSTM</a:t>
            </a:r>
          </a:p>
        </p:txBody>
      </p:sp>
      <p:sp>
        <p:nvSpPr>
          <p:cNvPr id="13" name="card body"/>
          <p:cNvSpPr txBox="1"/>
          <p:nvPr/>
        </p:nvSpPr>
        <p:spPr>
          <a:xfrm>
            <a:off x="6995159" y="2221992"/>
            <a:ext cx="4480560" cy="1463039"/>
          </a:xfrm>
          <a:prstGeom prst="rect">
            <a:avLst/>
          </a:prstGeom>
          <a:noFill/>
        </p:spPr>
        <p:txBody>
          <a:bodyPr wrap="square" lIns="73152" rIns="73152" tIns="73152" bIns="73152" anchor="t">
            <a:spAutoFit/>
          </a:bodyPr>
          <a:lstStyle/>
          <a:p>
            <a:pPr algn="l"/>
            <a:r>
              <a:rPr sz="1400" b="0" i="0">
                <a:solidFill>
                  <a:srgbClr val="1D2A33"/>
                </a:solidFill>
                <a:latin typeface="Arial"/>
              </a:rPr>
              <a:t>Learns from raw sequences, one network for all horizons, consistent trajectories; hosts custom losses such as the peak loss</a:t>
            </a:r>
          </a:p>
        </p:txBody>
      </p:sp>
      <p:sp>
        <p:nvSpPr>
          <p:cNvPr id="14" name="verdict"/>
          <p:cNvSpPr/>
          <p:nvPr/>
        </p:nvSpPr>
        <p:spPr>
          <a:xfrm>
            <a:off x="548640" y="4023360"/>
            <a:ext cx="11064240" cy="2148840"/>
          </a:xfrm>
          <a:prstGeom prst="roundRect">
            <a:avLst>
              <a:gd name="adj" fmla="val 7659"/>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verdict text"/>
          <p:cNvSpPr txBox="1"/>
          <p:nvPr/>
        </p:nvSpPr>
        <p:spPr>
          <a:xfrm>
            <a:off x="822960" y="4160520"/>
            <a:ext cx="10515600" cy="1920240"/>
          </a:xfrm>
          <a:prstGeom prst="rect">
            <a:avLst/>
          </a:prstGeom>
          <a:noFill/>
        </p:spPr>
        <p:txBody>
          <a:bodyPr wrap="square" lIns="73152" rIns="73152" tIns="73152" bIns="73152" anchor="t">
            <a:spAutoFit/>
          </a:bodyPr>
          <a:lstStyle/>
          <a:p>
            <a:pPr algn="l"/>
            <a:r>
              <a:rPr sz="1600" b="0" i="0">
                <a:solidFill>
                  <a:srgbClr val="FFFFFF"/>
                </a:solidFill>
                <a:latin typeface="Arial"/>
              </a:rPr>
              <a:t>The trees benefit from feature engineering and tuning; the LSTM from its loss and architecture.</a:t>
            </a:r>
          </a:p>
          <a:p>
            <a:pPr algn="l">
              <a:spcBef>
                <a:spcPts val="1000"/>
              </a:spcBef>
            </a:pPr>
            <a:r>
              <a:rPr sz="1600" b="0" i="0">
                <a:solidFill>
                  <a:srgbClr val="FFFFFF"/>
                </a:solidFill>
                <a:latin typeface="Arial"/>
              </a:rPr>
              <a:t>Check at BD08: giving the LSTM the 17 physics features cut its RMSE by 3–6%, narrowing the gap; at BD11 the LSTM is already best at 48–72 h.</a:t>
            </a:r>
          </a:p>
          <a:p>
            <a:pPr algn="l">
              <a:spcBef>
                <a:spcPts val="1000"/>
              </a:spcBef>
            </a:pPr>
            <a:r>
              <a:rPr sz="1600" b="0" i="0">
                <a:solidFill>
                  <a:srgbClr val="FFFFFF"/>
                </a:solidFill>
                <a:latin typeface="Arial"/>
              </a:rPr>
              <a:t>For a fast, transparent operational baseline the trees are hard to beat; with buoy targets, forecast forcing and a GPU the LSTM has more headroom.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Limitations and future work</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The pipeline is ready for the next step: buoy targets and forecast forcing</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19 / 21</a:t>
            </a:r>
          </a:p>
        </p:txBody>
      </p:sp>
      <p:sp>
        <p:nvSpPr>
          <p:cNvPr id="6" name="limits card"/>
          <p:cNvSpPr/>
          <p:nvPr/>
        </p:nvSpPr>
        <p:spPr>
          <a:xfrm>
            <a:off x="548640" y="1600200"/>
            <a:ext cx="5394960" cy="4617720"/>
          </a:xfrm>
          <a:prstGeom prst="roundRect">
            <a:avLst>
              <a:gd name="adj" fmla="val 3564"/>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imits heading"/>
          <p:cNvSpPr txBox="1"/>
          <p:nvPr/>
        </p:nvSpPr>
        <p:spPr>
          <a:xfrm>
            <a:off x="777240" y="1737360"/>
            <a:ext cx="4937760" cy="457200"/>
          </a:xfrm>
          <a:prstGeom prst="rect">
            <a:avLst/>
          </a:prstGeom>
          <a:noFill/>
        </p:spPr>
        <p:txBody>
          <a:bodyPr wrap="square" lIns="73152" rIns="73152" tIns="73152" bIns="73152" anchor="t">
            <a:spAutoFit/>
          </a:bodyPr>
          <a:lstStyle/>
          <a:p>
            <a:pPr algn="l"/>
            <a:r>
              <a:rPr sz="1900" b="1" i="0">
                <a:solidFill>
                  <a:srgbClr val="0B2545"/>
                </a:solidFill>
                <a:latin typeface="Georgia"/>
              </a:rPr>
              <a:t>Limitations</a:t>
            </a:r>
          </a:p>
        </p:txBody>
      </p:sp>
      <p:sp>
        <p:nvSpPr>
          <p:cNvPr id="8" name="limits"/>
          <p:cNvSpPr txBox="1"/>
          <p:nvPr/>
        </p:nvSpPr>
        <p:spPr>
          <a:xfrm>
            <a:off x="777240" y="2240280"/>
            <a:ext cx="4937760" cy="3886200"/>
          </a:xfrm>
          <a:prstGeom prst="rect">
            <a:avLst/>
          </a:prstGeom>
          <a:noFill/>
        </p:spPr>
        <p:txBody>
          <a:bodyPr wrap="square" lIns="73152" rIns="73152" tIns="73152" bIns="73152" anchor="t">
            <a:spAutoFit/>
          </a:bodyPr>
          <a:lstStyle/>
          <a:p>
            <a:pPr algn="l" marL="274320" indent="-228600">
              <a:buFont typeface="Arial"/>
              <a:buChar char="•"/>
            </a:pPr>
            <a:r>
              <a:rPr sz="1500" b="0" i="0">
                <a:solidFill>
                  <a:srgbClr val="1D2A33"/>
                </a:solidFill>
                <a:latin typeface="Arial"/>
              </a:rPr>
              <a:t>Target is ERA5, which smooths cyclone peaks; buoy verification pending</a:t>
            </a:r>
          </a:p>
          <a:p>
            <a:pPr algn="l" marL="274320" indent="-228600">
              <a:spcBef>
                <a:spcPts val="900"/>
              </a:spcBef>
              <a:buFont typeface="Arial"/>
              <a:buChar char="•"/>
            </a:pPr>
            <a:r>
              <a:rPr sz="1500" b="0" i="0">
                <a:solidFill>
                  <a:srgbClr val="1D2A33"/>
                </a:solidFill>
                <a:latin typeface="Arial"/>
              </a:rPr>
              <a:t>Only information up to t; no NWP forecast forcing</a:t>
            </a:r>
          </a:p>
          <a:p>
            <a:pPr algn="l" marL="274320" indent="-228600">
              <a:spcBef>
                <a:spcPts val="900"/>
              </a:spcBef>
              <a:buFont typeface="Arial"/>
              <a:buChar char="•"/>
            </a:pPr>
            <a:r>
              <a:rPr sz="1500" b="0" i="0">
                <a:solidFill>
                  <a:srgbClr val="1D2A33"/>
                </a:solidFill>
                <a:latin typeface="Arial"/>
              </a:rPr>
              <a:t>Point inputs; remote swell sources unseen</a:t>
            </a:r>
          </a:p>
          <a:p>
            <a:pPr algn="l" marL="274320" indent="-228600">
              <a:spcBef>
                <a:spcPts val="900"/>
              </a:spcBef>
              <a:buFont typeface="Arial"/>
              <a:buChar char="•"/>
            </a:pPr>
            <a:r>
              <a:rPr sz="1500" b="0" i="0">
                <a:solidFill>
                  <a:srgbClr val="1D2A33"/>
                </a:solidFill>
                <a:latin typeface="Arial"/>
              </a:rPr>
              <a:t>15-minute tuning budgets on a laptop CPU; LSTM untuned</a:t>
            </a:r>
          </a:p>
        </p:txBody>
      </p:sp>
      <p:sp>
        <p:nvSpPr>
          <p:cNvPr id="9" name="future card"/>
          <p:cNvSpPr/>
          <p:nvPr/>
        </p:nvSpPr>
        <p:spPr>
          <a:xfrm>
            <a:off x="6217920" y="1600200"/>
            <a:ext cx="5394960" cy="4617720"/>
          </a:xfrm>
          <a:prstGeom prst="roundRect">
            <a:avLst>
              <a:gd name="adj" fmla="val 3564"/>
            </a:avLst>
          </a:prstGeom>
          <a:solidFill>
            <a:srgbClr val="E3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uture heading"/>
          <p:cNvSpPr txBox="1"/>
          <p:nvPr/>
        </p:nvSpPr>
        <p:spPr>
          <a:xfrm>
            <a:off x="6446520" y="1737360"/>
            <a:ext cx="4937760" cy="457200"/>
          </a:xfrm>
          <a:prstGeom prst="rect">
            <a:avLst/>
          </a:prstGeom>
          <a:noFill/>
        </p:spPr>
        <p:txBody>
          <a:bodyPr wrap="square" lIns="73152" rIns="73152" tIns="73152" bIns="73152" anchor="t">
            <a:spAutoFit/>
          </a:bodyPr>
          <a:lstStyle/>
          <a:p>
            <a:pPr algn="l"/>
            <a:r>
              <a:rPr sz="1900" b="1" i="0">
                <a:solidFill>
                  <a:srgbClr val="0B2545"/>
                </a:solidFill>
                <a:latin typeface="Georgia"/>
              </a:rPr>
              <a:t>Future work</a:t>
            </a:r>
          </a:p>
        </p:txBody>
      </p:sp>
      <p:sp>
        <p:nvSpPr>
          <p:cNvPr id="11" name="future"/>
          <p:cNvSpPr txBox="1"/>
          <p:nvPr/>
        </p:nvSpPr>
        <p:spPr>
          <a:xfrm>
            <a:off x="6446520" y="2240280"/>
            <a:ext cx="4937760" cy="3886200"/>
          </a:xfrm>
          <a:prstGeom prst="rect">
            <a:avLst/>
          </a:prstGeom>
          <a:noFill/>
        </p:spPr>
        <p:txBody>
          <a:bodyPr wrap="square" lIns="73152" rIns="73152" tIns="73152" bIns="73152" anchor="t">
            <a:spAutoFit/>
          </a:bodyPr>
          <a:lstStyle/>
          <a:p>
            <a:pPr algn="l" marL="274320" indent="-228600">
              <a:buFont typeface="Arial"/>
              <a:buChar char="•"/>
            </a:pPr>
            <a:r>
              <a:rPr sz="1500" b="0" i="0">
                <a:solidFill>
                  <a:srgbClr val="1D2A33"/>
                </a:solidFill>
                <a:latin typeface="Arial"/>
              </a:rPr>
              <a:t>Fine-tune on OMNI buoy observations</a:t>
            </a:r>
          </a:p>
          <a:p>
            <a:pPr algn="l" marL="274320" indent="-228600">
              <a:spcBef>
                <a:spcPts val="900"/>
              </a:spcBef>
              <a:buFont typeface="Arial"/>
              <a:buChar char="•"/>
            </a:pPr>
            <a:r>
              <a:rPr sz="1500" b="0" i="0">
                <a:solidFill>
                  <a:srgbClr val="1D2A33"/>
                </a:solidFill>
                <a:latin typeface="Arial"/>
              </a:rPr>
              <a:t>NWP winds for t + h as decoder inputs</a:t>
            </a:r>
          </a:p>
          <a:p>
            <a:pPr algn="l" marL="274320" indent="-228600">
              <a:spcBef>
                <a:spcPts val="900"/>
              </a:spcBef>
              <a:buFont typeface="Arial"/>
              <a:buChar char="•"/>
            </a:pPr>
            <a:r>
              <a:rPr sz="1500" b="0" i="0">
                <a:solidFill>
                  <a:srgbClr val="1D2A33"/>
                </a:solidFill>
                <a:latin typeface="Arial"/>
              </a:rPr>
              <a:t>Spatial inputs: ConvLSTM or graph networks</a:t>
            </a:r>
          </a:p>
          <a:p>
            <a:pPr algn="l" marL="274320" indent="-228600">
              <a:spcBef>
                <a:spcPts val="900"/>
              </a:spcBef>
              <a:buFont typeface="Arial"/>
              <a:buChar char="•"/>
            </a:pPr>
            <a:r>
              <a:rPr sz="1500" b="0" i="0">
                <a:solidFill>
                  <a:srgbClr val="1D2A33"/>
                </a:solidFill>
                <a:latin typeface="Arial"/>
              </a:rPr>
              <a:t>Probabilistic (quantile) forecasts for go / no-go decisions</a:t>
            </a:r>
          </a:p>
          <a:p>
            <a:pPr algn="l" marL="274320" indent="-228600">
              <a:spcBef>
                <a:spcPts val="900"/>
              </a:spcBef>
              <a:buFont typeface="Arial"/>
              <a:buChar char="•"/>
            </a:pPr>
            <a:r>
              <a:rPr sz="1500" b="0" i="0">
                <a:solidFill>
                  <a:srgbClr val="1D2A33"/>
                </a:solidFill>
                <a:latin typeface="Arial"/>
              </a:rPr>
              <a:t>Tree + LSTM ensemble on a GPU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logo card"/>
          <p:cNvSpPr/>
          <p:nvPr/>
        </p:nvSpPr>
        <p:spPr>
          <a:xfrm>
            <a:off x="384048" y="173736"/>
            <a:ext cx="837798" cy="88696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IIT Kharagpur logo" descr="iitkgp_logo.png"/>
          <p:cNvPicPr>
            <a:picLocks noChangeAspect="1"/>
          </p:cNvPicPr>
          <p:nvPr/>
        </p:nvPicPr>
        <p:blipFill>
          <a:blip r:embed="rId2"/>
          <a:stretch>
            <a:fillRect/>
          </a:stretch>
        </p:blipFill>
        <p:spPr>
          <a:xfrm>
            <a:off x="457200" y="228600"/>
            <a:ext cx="691494" cy="777240"/>
          </a:xfrm>
          <a:prstGeom prst="rect">
            <a:avLst/>
          </a:prstGeom>
        </p:spPr>
      </p:pic>
      <p:sp>
        <p:nvSpPr>
          <p:cNvPr id="4" name="title"/>
          <p:cNvSpPr txBox="1"/>
          <p:nvPr/>
        </p:nvSpPr>
        <p:spPr>
          <a:xfrm>
            <a:off x="1371600" y="365760"/>
            <a:ext cx="10241280" cy="731520"/>
          </a:xfrm>
          <a:prstGeom prst="rect">
            <a:avLst/>
          </a:prstGeom>
          <a:noFill/>
        </p:spPr>
        <p:txBody>
          <a:bodyPr wrap="square" lIns="73152" rIns="73152" tIns="73152" bIns="73152" anchor="t">
            <a:spAutoFit/>
          </a:bodyPr>
          <a:lstStyle/>
          <a:p>
            <a:pPr algn="l"/>
            <a:r>
              <a:rPr sz="3200" b="1" i="0">
                <a:solidFill>
                  <a:srgbClr val="FFFFFF"/>
                </a:solidFill>
                <a:latin typeface="Georgia"/>
              </a:rPr>
              <a:t>Conclusions</a:t>
            </a:r>
          </a:p>
        </p:txBody>
      </p:sp>
      <p:sp>
        <p:nvSpPr>
          <p:cNvPr id="5" name="result card"/>
          <p:cNvSpPr/>
          <p:nvPr/>
        </p:nvSpPr>
        <p:spPr>
          <a:xfrm>
            <a:off x="548640" y="1325880"/>
            <a:ext cx="2606040" cy="1874519"/>
          </a:xfrm>
          <a:prstGeom prst="roundRect">
            <a:avLst>
              <a:gd name="adj" fmla="val 8780"/>
            </a:avLst>
          </a:prstGeom>
          <a:solidFill>
            <a:srgbClr val="13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ult value"/>
          <p:cNvSpPr txBox="1"/>
          <p:nvPr/>
        </p:nvSpPr>
        <p:spPr>
          <a:xfrm>
            <a:off x="731520" y="1417320"/>
            <a:ext cx="2286000" cy="777240"/>
          </a:xfrm>
          <a:prstGeom prst="rect">
            <a:avLst/>
          </a:prstGeom>
          <a:noFill/>
        </p:spPr>
        <p:txBody>
          <a:bodyPr wrap="square" lIns="73152" rIns="73152" tIns="73152" bIns="73152" anchor="t">
            <a:spAutoFit/>
          </a:bodyPr>
          <a:lstStyle/>
          <a:p>
            <a:pPr algn="l"/>
            <a:r>
              <a:rPr sz="3200" b="1" i="0">
                <a:solidFill>
                  <a:srgbClr val="E8A33D"/>
                </a:solidFill>
                <a:latin typeface="Arial"/>
              </a:rPr>
              <a:t>−18%</a:t>
            </a:r>
          </a:p>
        </p:txBody>
      </p:sp>
      <p:sp>
        <p:nvSpPr>
          <p:cNvPr id="7" name="result label"/>
          <p:cNvSpPr txBox="1"/>
          <p:nvPr/>
        </p:nvSpPr>
        <p:spPr>
          <a:xfrm>
            <a:off x="731520" y="2194560"/>
            <a:ext cx="2286000" cy="960120"/>
          </a:xfrm>
          <a:prstGeom prst="rect">
            <a:avLst/>
          </a:prstGeom>
          <a:noFill/>
        </p:spPr>
        <p:txBody>
          <a:bodyPr wrap="square" lIns="73152" rIns="73152" tIns="73152" bIns="73152" anchor="t">
            <a:spAutoFit/>
          </a:bodyPr>
          <a:lstStyle/>
          <a:p>
            <a:pPr algn="l"/>
            <a:r>
              <a:rPr sz="1300" b="0" i="0">
                <a:solidFill>
                  <a:srgbClr val="FFFFFF"/>
                </a:solidFill>
                <a:latin typeface="Arial"/>
              </a:rPr>
              <a:t>RMSE vs persistence at 24 h</a:t>
            </a:r>
          </a:p>
        </p:txBody>
      </p:sp>
      <p:sp>
        <p:nvSpPr>
          <p:cNvPr id="8" name="result card"/>
          <p:cNvSpPr/>
          <p:nvPr/>
        </p:nvSpPr>
        <p:spPr>
          <a:xfrm>
            <a:off x="3383280" y="1325880"/>
            <a:ext cx="2606040" cy="1874519"/>
          </a:xfrm>
          <a:prstGeom prst="roundRect">
            <a:avLst>
              <a:gd name="adj" fmla="val 8780"/>
            </a:avLst>
          </a:prstGeom>
          <a:solidFill>
            <a:srgbClr val="13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sult value"/>
          <p:cNvSpPr txBox="1"/>
          <p:nvPr/>
        </p:nvSpPr>
        <p:spPr>
          <a:xfrm>
            <a:off x="3566160" y="1417320"/>
            <a:ext cx="2286000" cy="777240"/>
          </a:xfrm>
          <a:prstGeom prst="rect">
            <a:avLst/>
          </a:prstGeom>
          <a:noFill/>
        </p:spPr>
        <p:txBody>
          <a:bodyPr wrap="square" lIns="73152" rIns="73152" tIns="73152" bIns="73152" anchor="t">
            <a:spAutoFit/>
          </a:bodyPr>
          <a:lstStyle/>
          <a:p>
            <a:pPr algn="l"/>
            <a:r>
              <a:rPr sz="3200" b="1" i="0">
                <a:solidFill>
                  <a:srgbClr val="E8A33D"/>
                </a:solidFill>
                <a:latin typeface="Arial"/>
              </a:rPr>
              <a:t>−23%</a:t>
            </a:r>
          </a:p>
        </p:txBody>
      </p:sp>
      <p:sp>
        <p:nvSpPr>
          <p:cNvPr id="10" name="result label"/>
          <p:cNvSpPr txBox="1"/>
          <p:nvPr/>
        </p:nvSpPr>
        <p:spPr>
          <a:xfrm>
            <a:off x="3566160" y="2194560"/>
            <a:ext cx="2286000" cy="960120"/>
          </a:xfrm>
          <a:prstGeom prst="rect">
            <a:avLst/>
          </a:prstGeom>
          <a:noFill/>
        </p:spPr>
        <p:txBody>
          <a:bodyPr wrap="square" lIns="73152" rIns="73152" tIns="73152" bIns="73152" anchor="t">
            <a:spAutoFit/>
          </a:bodyPr>
          <a:lstStyle/>
          <a:p>
            <a:pPr algn="l"/>
            <a:r>
              <a:rPr sz="1300" b="0" i="0">
                <a:solidFill>
                  <a:srgbClr val="FFFFFF"/>
                </a:solidFill>
                <a:latin typeface="Arial"/>
              </a:rPr>
              <a:t>RMSE vs persistence at 72 h</a:t>
            </a:r>
          </a:p>
        </p:txBody>
      </p:sp>
      <p:sp>
        <p:nvSpPr>
          <p:cNvPr id="11" name="result card"/>
          <p:cNvSpPr/>
          <p:nvPr/>
        </p:nvSpPr>
        <p:spPr>
          <a:xfrm>
            <a:off x="6217920" y="1325880"/>
            <a:ext cx="2606040" cy="1874519"/>
          </a:xfrm>
          <a:prstGeom prst="roundRect">
            <a:avLst>
              <a:gd name="adj" fmla="val 8780"/>
            </a:avLst>
          </a:prstGeom>
          <a:solidFill>
            <a:srgbClr val="13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 value"/>
          <p:cNvSpPr txBox="1"/>
          <p:nvPr/>
        </p:nvSpPr>
        <p:spPr>
          <a:xfrm>
            <a:off x="6400800" y="1417320"/>
            <a:ext cx="2286000" cy="777240"/>
          </a:xfrm>
          <a:prstGeom prst="rect">
            <a:avLst/>
          </a:prstGeom>
          <a:noFill/>
        </p:spPr>
        <p:txBody>
          <a:bodyPr wrap="square" lIns="73152" rIns="73152" tIns="73152" bIns="73152" anchor="t">
            <a:spAutoFit/>
          </a:bodyPr>
          <a:lstStyle/>
          <a:p>
            <a:pPr algn="l"/>
            <a:r>
              <a:rPr sz="3200" b="1" i="0">
                <a:solidFill>
                  <a:srgbClr val="E8A33D"/>
                </a:solidFill>
                <a:latin typeface="Arial"/>
              </a:rPr>
              <a:t>−23%</a:t>
            </a:r>
          </a:p>
        </p:txBody>
      </p:sp>
      <p:sp>
        <p:nvSpPr>
          <p:cNvPr id="13" name="result label"/>
          <p:cNvSpPr txBox="1"/>
          <p:nvPr/>
        </p:nvSpPr>
        <p:spPr>
          <a:xfrm>
            <a:off x="6400800" y="2194560"/>
            <a:ext cx="2286000" cy="960120"/>
          </a:xfrm>
          <a:prstGeom prst="rect">
            <a:avLst/>
          </a:prstGeom>
          <a:noFill/>
        </p:spPr>
        <p:txBody>
          <a:bodyPr wrap="square" lIns="73152" rIns="73152" tIns="73152" bIns="73152" anchor="t">
            <a:spAutoFit/>
          </a:bodyPr>
          <a:lstStyle/>
          <a:p>
            <a:pPr algn="l"/>
            <a:r>
              <a:rPr sz="1300" b="0" i="0">
                <a:solidFill>
                  <a:srgbClr val="FFFFFF"/>
                </a:solidFill>
                <a:latin typeface="Arial"/>
              </a:rPr>
              <a:t>RMSE vs ARIMA at 72 h</a:t>
            </a:r>
          </a:p>
        </p:txBody>
      </p:sp>
      <p:sp>
        <p:nvSpPr>
          <p:cNvPr id="14" name="result card"/>
          <p:cNvSpPr/>
          <p:nvPr/>
        </p:nvSpPr>
        <p:spPr>
          <a:xfrm>
            <a:off x="9052560" y="1325880"/>
            <a:ext cx="2606040" cy="1874519"/>
          </a:xfrm>
          <a:prstGeom prst="roundRect">
            <a:avLst>
              <a:gd name="adj" fmla="val 8780"/>
            </a:avLst>
          </a:prstGeom>
          <a:solidFill>
            <a:srgbClr val="13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 value"/>
          <p:cNvSpPr txBox="1"/>
          <p:nvPr/>
        </p:nvSpPr>
        <p:spPr>
          <a:xfrm>
            <a:off x="9235440" y="1417320"/>
            <a:ext cx="2286000" cy="777240"/>
          </a:xfrm>
          <a:prstGeom prst="rect">
            <a:avLst/>
          </a:prstGeom>
          <a:noFill/>
        </p:spPr>
        <p:txBody>
          <a:bodyPr wrap="square" lIns="73152" rIns="73152" tIns="73152" bIns="73152" anchor="t">
            <a:spAutoFit/>
          </a:bodyPr>
          <a:lstStyle/>
          <a:p>
            <a:pPr algn="l"/>
            <a:r>
              <a:rPr sz="3200" b="1" i="0">
                <a:solidFill>
                  <a:srgbClr val="E8A33D"/>
                </a:solidFill>
                <a:latin typeface="Arial"/>
              </a:rPr>
              <a:t>72→55%</a:t>
            </a:r>
          </a:p>
        </p:txBody>
      </p:sp>
      <p:sp>
        <p:nvSpPr>
          <p:cNvPr id="16" name="result label"/>
          <p:cNvSpPr txBox="1"/>
          <p:nvPr/>
        </p:nvSpPr>
        <p:spPr>
          <a:xfrm>
            <a:off x="9235440" y="2194560"/>
            <a:ext cx="2286000" cy="960120"/>
          </a:xfrm>
          <a:prstGeom prst="rect">
            <a:avLst/>
          </a:prstGeom>
          <a:noFill/>
        </p:spPr>
        <p:txBody>
          <a:bodyPr wrap="square" lIns="73152" rIns="73152" tIns="73152" bIns="73152" anchor="t">
            <a:spAutoFit/>
          </a:bodyPr>
          <a:lstStyle/>
          <a:p>
            <a:pPr algn="l"/>
            <a:r>
              <a:rPr sz="1300" b="0" i="0">
                <a:solidFill>
                  <a:srgbClr val="FFFFFF"/>
                </a:solidFill>
                <a:latin typeface="Arial"/>
              </a:rPr>
              <a:t>Extremes under-predicted at 24 h, MSE → peak loss</a:t>
            </a:r>
          </a:p>
        </p:txBody>
      </p:sp>
      <p:sp>
        <p:nvSpPr>
          <p:cNvPr id="17" name="takeaway heading"/>
          <p:cNvSpPr txBox="1"/>
          <p:nvPr/>
        </p:nvSpPr>
        <p:spPr>
          <a:xfrm>
            <a:off x="548640" y="3474720"/>
            <a:ext cx="5486400" cy="457200"/>
          </a:xfrm>
          <a:prstGeom prst="rect">
            <a:avLst/>
          </a:prstGeom>
          <a:noFill/>
        </p:spPr>
        <p:txBody>
          <a:bodyPr wrap="square" lIns="73152" rIns="73152" tIns="73152" bIns="73152" anchor="t">
            <a:spAutoFit/>
          </a:bodyPr>
          <a:lstStyle/>
          <a:p>
            <a:pPr algn="l"/>
            <a:r>
              <a:rPr sz="1900" b="1" i="0">
                <a:solidFill>
                  <a:srgbClr val="9FC9CE"/>
                </a:solidFill>
                <a:latin typeface="Georgia"/>
              </a:rPr>
              <a:t>Take-aways</a:t>
            </a:r>
          </a:p>
        </p:txBody>
      </p:sp>
      <p:sp>
        <p:nvSpPr>
          <p:cNvPr id="18" name="takeaways"/>
          <p:cNvSpPr txBox="1"/>
          <p:nvPr/>
        </p:nvSpPr>
        <p:spPr>
          <a:xfrm>
            <a:off x="548640" y="3931920"/>
            <a:ext cx="5486400" cy="2377440"/>
          </a:xfrm>
          <a:prstGeom prst="rect">
            <a:avLst/>
          </a:prstGeom>
          <a:noFill/>
        </p:spPr>
        <p:txBody>
          <a:bodyPr wrap="square" lIns="73152" rIns="73152" tIns="73152" bIns="73152" anchor="t">
            <a:spAutoFit/>
          </a:bodyPr>
          <a:lstStyle/>
          <a:p>
            <a:pPr algn="l" marL="274320" indent="-228600">
              <a:buFont typeface="Arial"/>
              <a:buChar char="•"/>
            </a:pPr>
            <a:r>
              <a:rPr sz="1500" b="0" i="0">
                <a:solidFill>
                  <a:srgbClr val="FFFFFF"/>
                </a:solidFill>
                <a:latin typeface="Arial"/>
              </a:rPr>
              <a:t>Leakage-free by construction and by test</a:t>
            </a:r>
          </a:p>
          <a:p>
            <a:pPr algn="l" marL="274320" indent="-228600">
              <a:spcBef>
                <a:spcPts val="800"/>
              </a:spcBef>
              <a:buFont typeface="Arial"/>
              <a:buChar char="•"/>
            </a:pPr>
            <a:r>
              <a:rPr sz="1500" b="0" i="0">
                <a:solidFill>
                  <a:srgbClr val="FFFFFF"/>
                </a:solidFill>
                <a:latin typeface="Arial"/>
              </a:rPr>
              <a:t>Direct multi-step: no error feedback</a:t>
            </a:r>
          </a:p>
          <a:p>
            <a:pPr algn="l" marL="274320" indent="-228600">
              <a:spcBef>
                <a:spcPts val="800"/>
              </a:spcBef>
              <a:buFont typeface="Arial"/>
              <a:buChar char="•"/>
            </a:pPr>
            <a:r>
              <a:rPr sz="1500" b="0" i="0">
                <a:solidFill>
                  <a:srgbClr val="FFFFFF"/>
                </a:solidFill>
                <a:latin typeface="Arial"/>
              </a:rPr>
              <a:t>Physics features make trees competitive</a:t>
            </a:r>
          </a:p>
          <a:p>
            <a:pPr algn="l" marL="274320" indent="-228600">
              <a:spcBef>
                <a:spcPts val="800"/>
              </a:spcBef>
              <a:buFont typeface="Arial"/>
              <a:buChar char="•"/>
            </a:pPr>
            <a:r>
              <a:rPr sz="1500" b="0" i="0">
                <a:solidFill>
                  <a:srgbClr val="FFFFFF"/>
                </a:solidFill>
                <a:latin typeface="Arial"/>
              </a:rPr>
              <a:t>Cyclones 72 h ahead need forecast forcing</a:t>
            </a:r>
          </a:p>
        </p:txBody>
      </p:sp>
      <p:sp>
        <p:nvSpPr>
          <p:cNvPr id="19" name="closing card"/>
          <p:cNvSpPr/>
          <p:nvPr/>
        </p:nvSpPr>
        <p:spPr>
          <a:xfrm>
            <a:off x="6400800" y="3520440"/>
            <a:ext cx="5212080" cy="2240280"/>
          </a:xfrm>
          <a:prstGeom prst="roundRect">
            <a:avLst>
              <a:gd name="adj" fmla="val 7346"/>
            </a:avLst>
          </a:prstGeom>
          <a:solidFill>
            <a:srgbClr val="13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losing"/>
          <p:cNvSpPr txBox="1"/>
          <p:nvPr/>
        </p:nvSpPr>
        <p:spPr>
          <a:xfrm>
            <a:off x="6629400" y="3657600"/>
            <a:ext cx="4754880" cy="2011680"/>
          </a:xfrm>
          <a:prstGeom prst="rect">
            <a:avLst/>
          </a:prstGeom>
          <a:noFill/>
        </p:spPr>
        <p:txBody>
          <a:bodyPr wrap="square" lIns="73152" rIns="73152" tIns="73152" bIns="73152" anchor="t">
            <a:spAutoFit/>
          </a:bodyPr>
          <a:lstStyle/>
          <a:p>
            <a:pPr algn="l"/>
            <a:r>
              <a:rPr sz="1600" b="0" i="0">
                <a:solidFill>
                  <a:srgbClr val="FFFFFF"/>
                </a:solidFill>
                <a:latin typeface="Arial"/>
              </a:rPr>
              <a:t>Data-driven point forecasts of wave height, trained on open reanalysis data, give useful skill to three days at a tiny fraction of the cost of a numerical wave model.</a:t>
            </a:r>
          </a:p>
          <a:p>
            <a:pPr algn="l">
              <a:spcBef>
                <a:spcPts val="1600"/>
              </a:spcBef>
            </a:pPr>
            <a:r>
              <a:rPr sz="2000" b="1" i="0">
                <a:solidFill>
                  <a:srgbClr val="E8A33D"/>
                </a:solidFill>
                <a:latin typeface="Arial"/>
              </a:rPr>
              <a:t>Thank you. Questions?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IT Kharagpur logo" descr="iitkgp_logo.png"/>
          <p:cNvPicPr>
            <a:picLocks noChangeAspect="1"/>
          </p:cNvPicPr>
          <p:nvPr/>
        </p:nvPicPr>
        <p:blipFill>
          <a:blip r:embed="rId2"/>
          <a:stretch>
            <a:fillRect/>
          </a:stretch>
        </p:blipFill>
        <p:spPr>
          <a:xfrm>
            <a:off x="274320" y="228600"/>
            <a:ext cx="772846" cy="868680"/>
          </a:xfrm>
          <a:prstGeom prst="rect">
            <a:avLst/>
          </a:prstGeom>
        </p:spPr>
      </p:pic>
      <p:sp>
        <p:nvSpPr>
          <p:cNvPr id="3" name="title"/>
          <p:cNvSpPr txBox="1"/>
          <p:nvPr/>
        </p:nvSpPr>
        <p:spPr>
          <a:xfrm>
            <a:off x="1234440" y="292608"/>
            <a:ext cx="10378440" cy="685800"/>
          </a:xfrm>
          <a:prstGeom prst="rect">
            <a:avLst/>
          </a:prstGeom>
          <a:noFill/>
        </p:spPr>
        <p:txBody>
          <a:bodyPr wrap="square" lIns="73152" rIns="73152" tIns="73152" bIns="73152" anchor="t">
            <a:spAutoFit/>
          </a:bodyPr>
          <a:lstStyle/>
          <a:p>
            <a:pPr algn="l"/>
            <a:r>
              <a:rPr sz="3000" b="1" i="0">
                <a:solidFill>
                  <a:srgbClr val="0B2545"/>
                </a:solidFill>
                <a:latin typeface="Georgia"/>
              </a:rPr>
              <a:t>References</a:t>
            </a:r>
          </a:p>
        </p:txBody>
      </p:sp>
      <p:sp>
        <p:nvSpPr>
          <p:cNvPr id="4" name="key message"/>
          <p:cNvSpPr txBox="1"/>
          <p:nvPr/>
        </p:nvSpPr>
        <p:spPr>
          <a:xfrm>
            <a:off x="1234440" y="960120"/>
            <a:ext cx="10378440" cy="457200"/>
          </a:xfrm>
          <a:prstGeom prst="rect">
            <a:avLst/>
          </a:prstGeom>
          <a:noFill/>
        </p:spPr>
        <p:txBody>
          <a:bodyPr wrap="square" lIns="73152" rIns="73152" tIns="73152" bIns="73152" anchor="t">
            <a:spAutoFit/>
          </a:bodyPr>
          <a:lstStyle/>
          <a:p>
            <a:pPr algn="l"/>
            <a:r>
              <a:rPr sz="1600" b="0" i="0">
                <a:solidFill>
                  <a:srgbClr val="5B6770"/>
                </a:solidFill>
                <a:latin typeface="Arial"/>
              </a:rPr>
              <a:t>Full list of 34 references in the thesis report (IEEE style)</a:t>
            </a:r>
          </a:p>
        </p:txBody>
      </p:sp>
      <p:sp>
        <p:nvSpPr>
          <p:cNvPr id="5" name="slide number"/>
          <p:cNvSpPr txBox="1"/>
          <p:nvPr/>
        </p:nvSpPr>
        <p:spPr>
          <a:xfrm>
            <a:off x="10881360" y="6355080"/>
            <a:ext cx="822960" cy="320040"/>
          </a:xfrm>
          <a:prstGeom prst="rect">
            <a:avLst/>
          </a:prstGeom>
          <a:noFill/>
        </p:spPr>
        <p:txBody>
          <a:bodyPr wrap="square" lIns="73152" rIns="73152" tIns="73152" bIns="73152" anchor="t">
            <a:spAutoFit/>
          </a:bodyPr>
          <a:lstStyle/>
          <a:p>
            <a:pPr algn="r"/>
            <a:r>
              <a:rPr sz="1100" b="0" i="0">
                <a:solidFill>
                  <a:srgbClr val="5B6770"/>
                </a:solidFill>
                <a:latin typeface="Arial"/>
              </a:rPr>
              <a:t>21 / 21</a:t>
            </a:r>
          </a:p>
        </p:txBody>
      </p:sp>
      <p:sp>
        <p:nvSpPr>
          <p:cNvPr id="6" name="references left"/>
          <p:cNvSpPr txBox="1"/>
          <p:nvPr/>
        </p:nvSpPr>
        <p:spPr>
          <a:xfrm>
            <a:off x="548640" y="1463040"/>
            <a:ext cx="5440680" cy="4846320"/>
          </a:xfrm>
          <a:prstGeom prst="rect">
            <a:avLst/>
          </a:prstGeom>
          <a:noFill/>
        </p:spPr>
        <p:txBody>
          <a:bodyPr wrap="square" lIns="73152" rIns="73152" tIns="73152" bIns="73152" anchor="t">
            <a:spAutoFit/>
          </a:bodyPr>
          <a:lstStyle/>
          <a:p>
            <a:pPr algn="l"/>
            <a:r>
              <a:rPr sz="850" b="0" i="0">
                <a:solidFill>
                  <a:srgbClr val="1D2A33"/>
                </a:solidFill>
                <a:latin typeface="Arial"/>
              </a:rPr>
              <a:t>[1] H. Hersbach et al., “The ERA5 global reanalysis,” Quarterly Journal of the Royal Meteorological Society, vol. 146, no. 730, pp. 1999–2049, 2020, doi: 10.1002/qj.3803.</a:t>
            </a:r>
          </a:p>
          <a:p>
            <a:pPr algn="l">
              <a:spcBef>
                <a:spcPts val="300"/>
              </a:spcBef>
            </a:pPr>
            <a:r>
              <a:rPr sz="850" b="0" i="0">
                <a:solidFill>
                  <a:srgbClr val="1D2A33"/>
                </a:solidFill>
                <a:latin typeface="Arial"/>
              </a:rPr>
              <a:t>[2] Copernicus Climate Change Service, “ERA5 hourly time-series data on single levels from 1940 to present,” Climate Data Store, dataset, 2024. [Online]. Available: https://cds.climate.copernicus.eu/datasets/reanalysis-era5-single-levels-timeseries</a:t>
            </a:r>
          </a:p>
          <a:p>
            <a:pPr algn="l">
              <a:spcBef>
                <a:spcPts val="300"/>
              </a:spcBef>
            </a:pPr>
            <a:r>
              <a:rPr sz="850" b="0" i="0">
                <a:solidFill>
                  <a:srgbClr val="1D2A33"/>
                </a:solidFill>
                <a:latin typeface="Arial"/>
              </a:rPr>
              <a:t>[3] Indian National Centre for Ocean Information Services, “Moored buoy observations, Ocean Moored buoy Network for the northern Indian Ocean (OMNI),” Hyderabad, India. [Online]. Available: https://incois.gov.in</a:t>
            </a:r>
          </a:p>
          <a:p>
            <a:pPr algn="l">
              <a:spcBef>
                <a:spcPts val="300"/>
              </a:spcBef>
            </a:pPr>
            <a:r>
              <a:rPr sz="850" b="0" i="0">
                <a:solidFill>
                  <a:srgbClr val="1D2A33"/>
                </a:solidFill>
                <a:latin typeface="Arial"/>
              </a:rPr>
              <a:t>[4] India Meteorological Department, Reports on Cyclonic Disturbances over the North Indian Ocean, RSMC – Tropical Cyclones, New Delhi, India, annual reports 2015–2024.</a:t>
            </a:r>
          </a:p>
          <a:p>
            <a:pPr algn="l">
              <a:spcBef>
                <a:spcPts val="300"/>
              </a:spcBef>
            </a:pPr>
            <a:r>
              <a:rPr sz="850" b="0" i="0">
                <a:solidFill>
                  <a:srgbClr val="1D2A33"/>
                </a:solidFill>
                <a:latin typeface="Arial"/>
              </a:rPr>
              <a:t>[5] The WAMDI Group, “The WAM model—A third generation ocean wave prediction model,” Journal of Physical Oceanography, vol. 18, no. 12, pp. 1775–1810, 1988.</a:t>
            </a:r>
          </a:p>
          <a:p>
            <a:pPr algn="l">
              <a:spcBef>
                <a:spcPts val="300"/>
              </a:spcBef>
            </a:pPr>
            <a:r>
              <a:rPr sz="850" b="0" i="0">
                <a:solidFill>
                  <a:srgbClr val="1D2A33"/>
                </a:solidFill>
                <a:latin typeface="Arial"/>
              </a:rPr>
              <a:t>[6] The WAVEWATCH III Development Group, “User manual and system documentation of WAVEWATCH III version 6.07,” NOAA/NWS/NCEP/MMAB, College Park, MD, USA, Tech. Note 333, 2019.</a:t>
            </a:r>
          </a:p>
          <a:p>
            <a:pPr algn="l">
              <a:spcBef>
                <a:spcPts val="300"/>
              </a:spcBef>
            </a:pPr>
            <a:r>
              <a:rPr sz="850" b="0" i="0">
                <a:solidFill>
                  <a:srgbClr val="1D2A33"/>
                </a:solidFill>
                <a:latin typeface="Arial"/>
              </a:rPr>
              <a:t>[7] L. H. Holthuijsen, Waves in Oceanic and Coastal Waters. Cambridge, U.K.: Cambridge University Press, 2007.</a:t>
            </a:r>
          </a:p>
          <a:p>
            <a:pPr algn="l">
              <a:spcBef>
                <a:spcPts val="300"/>
              </a:spcBef>
            </a:pPr>
            <a:r>
              <a:rPr sz="850" b="0" i="0">
                <a:solidFill>
                  <a:srgbClr val="1D2A33"/>
                </a:solidFill>
                <a:latin typeface="Arial"/>
              </a:rPr>
              <a:t>[8] M. C. Deo, A. Jha, A. S. Chaphekar, and K. Ravikant, “Neural networks for wave forecasting,” Ocean Engineering, vol. 28, no. 7, pp. 889–898, 2001.</a:t>
            </a:r>
          </a:p>
          <a:p>
            <a:pPr algn="l">
              <a:spcBef>
                <a:spcPts val="300"/>
              </a:spcBef>
            </a:pPr>
            <a:r>
              <a:rPr sz="850" b="0" i="0">
                <a:solidFill>
                  <a:srgbClr val="1D2A33"/>
                </a:solidFill>
                <a:latin typeface="Arial"/>
              </a:rPr>
              <a:t>[9] S. Fan, N. Xiao, and S. Dong, “A novel model to predict significant wave height based on long short-term memory network,” Ocean Engineering, vol. 205, Art. no. 107298, 2020.</a:t>
            </a:r>
          </a:p>
          <a:p>
            <a:pPr algn="l">
              <a:spcBef>
                <a:spcPts val="300"/>
              </a:spcBef>
            </a:pPr>
            <a:r>
              <a:rPr sz="850" b="0" i="0">
                <a:solidFill>
                  <a:srgbClr val="1D2A33"/>
                </a:solidFill>
                <a:latin typeface="Arial"/>
              </a:rPr>
              <a:t>[10] S. Ben Taieb, G. Bontempi, A. F. Atiya, and A. Sorjamaa, “A review and comparison of strategies for multi-step ahead time series forecasting based on the NN5 forecasting competition,” Expert Systems with Applications, vol. 39, no. 8, pp. 7067–7083, 2012.</a:t>
            </a:r>
          </a:p>
          <a:p>
            <a:pPr algn="l">
              <a:spcBef>
                <a:spcPts val="300"/>
              </a:spcBef>
            </a:pPr>
            <a:r>
              <a:rPr sz="850" b="0" i="0">
                <a:solidFill>
                  <a:srgbClr val="1D2A33"/>
                </a:solidFill>
                <a:latin typeface="Arial"/>
              </a:rPr>
              <a:t>[11] W. G. Large and S. Pond, “Open ocean momentum flux measurements in moderate to strong winds,” Journal of Physical Oceanography, vol. 11, no. 3, pp. 324–336, 1981.</a:t>
            </a:r>
          </a:p>
          <a:p>
            <a:pPr algn="l">
              <a:spcBef>
                <a:spcPts val="300"/>
              </a:spcBef>
            </a:pPr>
            <a:r>
              <a:rPr sz="850" b="0" i="0">
                <a:solidFill>
                  <a:srgbClr val="1D2A33"/>
                </a:solidFill>
                <a:latin typeface="Arial"/>
              </a:rPr>
              <a:t>[12] M. D. Powell, P. J. Vickery, and T. A. Reinhold, “Reduced drag coefficient for high wind speeds in tropical cyclones,” Nature, vol. 422, pp. 279–283, 2003.</a:t>
            </a:r>
          </a:p>
          <a:p>
            <a:pPr algn="l">
              <a:spcBef>
                <a:spcPts val="300"/>
              </a:spcBef>
            </a:pPr>
            <a:r>
              <a:rPr sz="850" b="0" i="0">
                <a:solidFill>
                  <a:srgbClr val="1D2A33"/>
                </a:solidFill>
                <a:latin typeface="Arial"/>
              </a:rPr>
              <a:t>[13] S. Hochreiter and J. Schmidhuber, “Long short-term memory,” Neural Computation, vol. 9, no. 8, pp. 1735–1780, 1997.</a:t>
            </a:r>
          </a:p>
        </p:txBody>
      </p:sp>
      <p:sp>
        <p:nvSpPr>
          <p:cNvPr id="7" name="references right"/>
          <p:cNvSpPr txBox="1"/>
          <p:nvPr/>
        </p:nvSpPr>
        <p:spPr>
          <a:xfrm>
            <a:off x="6172200" y="1463040"/>
            <a:ext cx="5440680" cy="4846320"/>
          </a:xfrm>
          <a:prstGeom prst="rect">
            <a:avLst/>
          </a:prstGeom>
          <a:noFill/>
        </p:spPr>
        <p:txBody>
          <a:bodyPr wrap="square" lIns="73152" rIns="73152" tIns="73152" bIns="73152" anchor="t">
            <a:spAutoFit/>
          </a:bodyPr>
          <a:lstStyle/>
          <a:p>
            <a:pPr algn="l"/>
            <a:r>
              <a:rPr sz="850" b="0" i="0">
                <a:solidFill>
                  <a:srgbClr val="1D2A33"/>
                </a:solidFill>
                <a:latin typeface="Arial"/>
              </a:rPr>
              <a:t>[14] M. Schuster and K. K. Paliwal, “Bidirectional recurrent neural networks,” IEEE Transactions on Signal Processing, vol. 45, no. 11, pp. 2673–2681, 1997.</a:t>
            </a:r>
          </a:p>
          <a:p>
            <a:pPr algn="l">
              <a:spcBef>
                <a:spcPts val="300"/>
              </a:spcBef>
            </a:pPr>
            <a:r>
              <a:rPr sz="850" b="0" i="0">
                <a:solidFill>
                  <a:srgbClr val="1D2A33"/>
                </a:solidFill>
                <a:latin typeface="Arial"/>
              </a:rPr>
              <a:t>[15] I. Sutskever, O. Vinyals, and Q. V. Le, “Sequence to sequence learning with neural networks,” in Advances in Neural Information Processing Systems 27, 2014, pp. 3104–3112.</a:t>
            </a:r>
          </a:p>
          <a:p>
            <a:pPr algn="l">
              <a:spcBef>
                <a:spcPts val="300"/>
              </a:spcBef>
            </a:pPr>
            <a:r>
              <a:rPr sz="850" b="0" i="0">
                <a:solidFill>
                  <a:srgbClr val="1D2A33"/>
                </a:solidFill>
                <a:latin typeface="Arial"/>
              </a:rPr>
              <a:t>[16] D. Bahdanau, K. Cho, and Y. Bengio, “Neural machine translation by jointly learning to align and translate,” in Proc. 3rd International Conference on Learning Representations (ICLR), San Diego, CA, USA, 2015.</a:t>
            </a:r>
          </a:p>
          <a:p>
            <a:pPr algn="l">
              <a:spcBef>
                <a:spcPts val="300"/>
              </a:spcBef>
            </a:pPr>
            <a:r>
              <a:rPr sz="850" b="0" i="0">
                <a:solidFill>
                  <a:srgbClr val="1D2A33"/>
                </a:solidFill>
                <a:latin typeface="Arial"/>
              </a:rPr>
              <a:t>[17] J. H. Friedman, “Greedy function approximation: A gradient boosting machine,” Annals of Statistics, vol. 29, no. 5, pp. 1189–1232, 2001.</a:t>
            </a:r>
          </a:p>
          <a:p>
            <a:pPr algn="l">
              <a:spcBef>
                <a:spcPts val="300"/>
              </a:spcBef>
            </a:pPr>
            <a:r>
              <a:rPr sz="850" b="0" i="0">
                <a:solidFill>
                  <a:srgbClr val="1D2A33"/>
                </a:solidFill>
                <a:latin typeface="Arial"/>
              </a:rPr>
              <a:t>[18] G. Ke et al., “LightGBM: A highly efficient gradient boosting decision tree,” in Advances in Neural Information Processing Systems 30, 2017, pp. 3146–3154.</a:t>
            </a:r>
          </a:p>
          <a:p>
            <a:pPr algn="l">
              <a:spcBef>
                <a:spcPts val="300"/>
              </a:spcBef>
            </a:pPr>
            <a:r>
              <a:rPr sz="850" b="0" i="0">
                <a:solidFill>
                  <a:srgbClr val="1D2A33"/>
                </a:solidFill>
                <a:latin typeface="Arial"/>
              </a:rPr>
              <a:t>[19] L. Prokhorenkova, G. Gusev, A. Vorobev, A. V. Dorogush, and A. Gulin, “CatBoost: Unbiased boosting with categorical features,” in Advances in Neural Information Processing Systems 31, 2018, pp. 6638–6648.</a:t>
            </a:r>
          </a:p>
          <a:p>
            <a:pPr algn="l">
              <a:spcBef>
                <a:spcPts val="300"/>
              </a:spcBef>
            </a:pPr>
            <a:r>
              <a:rPr sz="850" b="0" i="0">
                <a:solidFill>
                  <a:srgbClr val="1D2A33"/>
                </a:solidFill>
                <a:latin typeface="Arial"/>
              </a:rPr>
              <a:t>[20] T. Akiba, S. Sano, T. Yanase, T. Ohta, and M. Koyama, “Optuna: A next-generation hyperparameter optimization framework,” in Proc. 25th ACM SIGKDD International Conference on Knowledge Discovery and Data Mining, 2019, pp. 2623–2631.</a:t>
            </a:r>
          </a:p>
          <a:p>
            <a:pPr algn="l">
              <a:spcBef>
                <a:spcPts val="300"/>
              </a:spcBef>
            </a:pPr>
            <a:r>
              <a:rPr sz="850" b="0" i="0">
                <a:solidFill>
                  <a:srgbClr val="1D2A33"/>
                </a:solidFill>
                <a:latin typeface="Arial"/>
              </a:rPr>
              <a:t>[21] J. Bergstra, R. Bardenet, Y. Bengio, and B. Kégl, “Algorithms for hyper-parameter optimization,” in Advances in Neural Information Processing Systems 24, 2011, pp. 2546–2554.</a:t>
            </a:r>
          </a:p>
          <a:p>
            <a:pPr algn="l">
              <a:spcBef>
                <a:spcPts val="300"/>
              </a:spcBef>
            </a:pPr>
            <a:r>
              <a:rPr sz="850" b="0" i="0">
                <a:solidFill>
                  <a:srgbClr val="1D2A33"/>
                </a:solidFill>
                <a:latin typeface="Arial"/>
              </a:rPr>
              <a:t>[22] G. E. P. Box, G. M. Jenkins, G. C. Reinsel, and G. M. Ljung, Time Series Analysis: Forecasting and Control, 5th ed. Hoboken, NJ, USA: Wiley, 2015.</a:t>
            </a:r>
          </a:p>
          <a:p>
            <a:pPr algn="l">
              <a:spcBef>
                <a:spcPts val="300"/>
              </a:spcBef>
            </a:pPr>
            <a:r>
              <a:rPr sz="850" b="0" i="0">
                <a:solidFill>
                  <a:srgbClr val="1D2A33"/>
                </a:solidFill>
                <a:latin typeface="Arial"/>
              </a:rPr>
              <a:t>[23] F. X. Diebold and R. S. Mariano, “Comparing predictive accuracy,” Journal of Business &amp; Economic Statistics, vol. 13, no. 3, pp. 253–263, 1995.</a:t>
            </a:r>
          </a:p>
          <a:p>
            <a:pPr algn="l">
              <a:spcBef>
                <a:spcPts val="300"/>
              </a:spcBef>
            </a:pPr>
            <a:r>
              <a:rPr sz="850" b="0" i="0">
                <a:solidFill>
                  <a:srgbClr val="1D2A33"/>
                </a:solidFill>
                <a:latin typeface="Arial"/>
              </a:rPr>
              <a:t>[24] D. Harvey, S. Leybourne, and P. Newbold, “Testing the equality of prediction mean squared errors,” International Journal of Forecasting, vol. 13, no. 2, pp. 281–291, 1997.</a:t>
            </a:r>
          </a:p>
          <a:p>
            <a:pPr algn="l">
              <a:spcBef>
                <a:spcPts val="300"/>
              </a:spcBef>
            </a:pPr>
            <a:r>
              <a:rPr sz="850" b="0" i="0">
                <a:solidFill>
                  <a:srgbClr val="1D2A33"/>
                </a:solidFill>
                <a:latin typeface="Arial"/>
              </a:rPr>
              <a:t>[25] L. Mentaschi, G. Besio, F. Cassola, and A. Mazzino, “Problems in RMSE-based wave model validations,” Ocean Modelling, vol. 72, pp. 53–58, 2013.</a:t>
            </a:r>
          </a:p>
          <a:p>
            <a:pPr algn="l">
              <a:spcBef>
                <a:spcPts val="300"/>
              </a:spcBef>
            </a:pPr>
            <a:r>
              <a:rPr sz="850" b="0" i="0">
                <a:solidFill>
                  <a:srgbClr val="1D2A33"/>
                </a:solidFill>
                <a:latin typeface="Arial"/>
              </a:rPr>
              <a:t>[26] D. P. Kingma and J. Ba, “Adam: A method for stochastic optimization,” in Proc. 3rd International Conference on Learning Representations (ICLR), San Diego, CA, USA, 2015.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Multi-step significant wave height forecasting in the Bay of Bengal</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